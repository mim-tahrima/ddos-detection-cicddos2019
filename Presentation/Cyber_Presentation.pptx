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ptos Bold" charset="1" panose="020B0004020202020204"/>
      <p:regular r:id="rId21"/>
    </p:embeddedFont>
    <p:embeddedFont>
      <p:font typeface="Canva Sans Bold" charset="1" panose="020B0803030501040103"/>
      <p:regular r:id="rId22"/>
    </p:embeddedFont>
    <p:embeddedFont>
      <p:font typeface="Canva Sans" charset="1" panose="020B0503030501040103"/>
      <p:regular r:id="rId23"/>
    </p:embeddedFont>
    <p:embeddedFont>
      <p:font typeface="Lilita One" charset="1" panose="02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colab.research.google.com/drive/1dlQKGzT-TS7WPIKvPVGdUtu_a5TlevV5?usp=sharing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-4733" t="0" r="-4733" b="-598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30182" y="2089241"/>
            <a:ext cx="8369397" cy="8197759"/>
          </a:xfrm>
          <a:custGeom>
            <a:avLst/>
            <a:gdLst/>
            <a:ahLst/>
            <a:cxnLst/>
            <a:rect r="r" b="b" t="t" l="l"/>
            <a:pathLst>
              <a:path h="8197759" w="8369397">
                <a:moveTo>
                  <a:pt x="0" y="0"/>
                </a:moveTo>
                <a:lnTo>
                  <a:pt x="8369397" y="0"/>
                </a:lnTo>
                <a:lnTo>
                  <a:pt x="8369397" y="8197759"/>
                </a:lnTo>
                <a:lnTo>
                  <a:pt x="0" y="81977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8421" y="501624"/>
            <a:ext cx="17711159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7A0000"/>
                </a:solidFill>
                <a:latin typeface="Aptos Bold"/>
                <a:ea typeface="Aptos Bold"/>
                <a:cs typeface="Aptos Bold"/>
                <a:sym typeface="Aptos Bold"/>
              </a:rPr>
              <a:t>Evaluating the Efficacy of Machine Learning Algorithms in Detecting DDoS Attacks Using the CIC-DDoS2019 Dataset</a:t>
            </a:r>
          </a:p>
          <a:p>
            <a:pPr algn="ctr">
              <a:lnSpc>
                <a:spcPts val="55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72326" y="7404135"/>
            <a:ext cx="8601482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 2 :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Suchitra Kairi (212056) 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Tahrima Arif Mim (220205) 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Jessica Sen (220241)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-4733" t="0" r="-4733" b="-598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826560"/>
            <a:ext cx="7870052" cy="6431740"/>
            <a:chOff x="0" y="0"/>
            <a:chExt cx="2072771" cy="16939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2771" cy="1693956"/>
            </a:xfrm>
            <a:custGeom>
              <a:avLst/>
              <a:gdLst/>
              <a:ahLst/>
              <a:cxnLst/>
              <a:rect r="r" b="b" t="t" l="l"/>
              <a:pathLst>
                <a:path h="1693956" w="2072771">
                  <a:moveTo>
                    <a:pt x="16723" y="0"/>
                  </a:moveTo>
                  <a:lnTo>
                    <a:pt x="2056048" y="0"/>
                  </a:lnTo>
                  <a:cubicBezTo>
                    <a:pt x="2065284" y="0"/>
                    <a:pt x="2072771" y="7487"/>
                    <a:pt x="2072771" y="16723"/>
                  </a:cubicBezTo>
                  <a:lnTo>
                    <a:pt x="2072771" y="1677233"/>
                  </a:lnTo>
                  <a:cubicBezTo>
                    <a:pt x="2072771" y="1686469"/>
                    <a:pt x="2065284" y="1693956"/>
                    <a:pt x="2056048" y="1693956"/>
                  </a:cubicBezTo>
                  <a:lnTo>
                    <a:pt x="16723" y="1693956"/>
                  </a:lnTo>
                  <a:cubicBezTo>
                    <a:pt x="7487" y="1693956"/>
                    <a:pt x="0" y="1686469"/>
                    <a:pt x="0" y="1677233"/>
                  </a:cubicBezTo>
                  <a:lnTo>
                    <a:pt x="0" y="16723"/>
                  </a:lnTo>
                  <a:cubicBezTo>
                    <a:pt x="0" y="7487"/>
                    <a:pt x="7487" y="0"/>
                    <a:pt x="16723" y="0"/>
                  </a:cubicBezTo>
                  <a:close/>
                </a:path>
              </a:pathLst>
            </a:custGeom>
            <a:solidFill>
              <a:srgbClr val="FAF9F9"/>
            </a:solidFill>
            <a:ln w="38100" cap="sq">
              <a:solidFill>
                <a:srgbClr val="7A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72771" cy="1732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66756" y="2826560"/>
            <a:ext cx="7126382" cy="6412690"/>
            <a:chOff x="0" y="0"/>
            <a:chExt cx="1876907" cy="16889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76907" cy="1688939"/>
            </a:xfrm>
            <a:custGeom>
              <a:avLst/>
              <a:gdLst/>
              <a:ahLst/>
              <a:cxnLst/>
              <a:rect r="r" b="b" t="t" l="l"/>
              <a:pathLst>
                <a:path h="1688939" w="1876907">
                  <a:moveTo>
                    <a:pt x="18468" y="0"/>
                  </a:moveTo>
                  <a:lnTo>
                    <a:pt x="1858439" y="0"/>
                  </a:lnTo>
                  <a:cubicBezTo>
                    <a:pt x="1863337" y="0"/>
                    <a:pt x="1868035" y="1946"/>
                    <a:pt x="1871498" y="5409"/>
                  </a:cubicBezTo>
                  <a:cubicBezTo>
                    <a:pt x="1874962" y="8873"/>
                    <a:pt x="1876907" y="13570"/>
                    <a:pt x="1876907" y="18468"/>
                  </a:cubicBezTo>
                  <a:lnTo>
                    <a:pt x="1876907" y="1670471"/>
                  </a:lnTo>
                  <a:cubicBezTo>
                    <a:pt x="1876907" y="1675369"/>
                    <a:pt x="1874962" y="1680066"/>
                    <a:pt x="1871498" y="1683530"/>
                  </a:cubicBezTo>
                  <a:cubicBezTo>
                    <a:pt x="1868035" y="1686993"/>
                    <a:pt x="1863337" y="1688939"/>
                    <a:pt x="1858439" y="1688939"/>
                  </a:cubicBezTo>
                  <a:lnTo>
                    <a:pt x="18468" y="1688939"/>
                  </a:lnTo>
                  <a:cubicBezTo>
                    <a:pt x="8269" y="1688939"/>
                    <a:pt x="0" y="1680670"/>
                    <a:pt x="0" y="1670471"/>
                  </a:cubicBezTo>
                  <a:lnTo>
                    <a:pt x="0" y="18468"/>
                  </a:lnTo>
                  <a:cubicBezTo>
                    <a:pt x="0" y="13570"/>
                    <a:pt x="1946" y="8873"/>
                    <a:pt x="5409" y="5409"/>
                  </a:cubicBezTo>
                  <a:cubicBezTo>
                    <a:pt x="8873" y="1946"/>
                    <a:pt x="13570" y="0"/>
                    <a:pt x="18468" y="0"/>
                  </a:cubicBezTo>
                  <a:close/>
                </a:path>
              </a:pathLst>
            </a:custGeom>
            <a:solidFill>
              <a:srgbClr val="FAF9F9"/>
            </a:solidFill>
            <a:ln w="38100" cap="sq">
              <a:solidFill>
                <a:srgbClr val="7A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76907" cy="1727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506551" y="3169385"/>
            <a:ext cx="531100" cy="539188"/>
          </a:xfrm>
          <a:custGeom>
            <a:avLst/>
            <a:gdLst/>
            <a:ahLst/>
            <a:cxnLst/>
            <a:rect r="r" b="b" t="t" l="l"/>
            <a:pathLst>
              <a:path h="539188" w="531100">
                <a:moveTo>
                  <a:pt x="0" y="0"/>
                </a:moveTo>
                <a:lnTo>
                  <a:pt x="531100" y="0"/>
                </a:lnTo>
                <a:lnTo>
                  <a:pt x="531100" y="539188"/>
                </a:lnTo>
                <a:lnTo>
                  <a:pt x="0" y="5391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33764" y="349055"/>
            <a:ext cx="9020473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7A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Definition &amp; Motivation</a:t>
            </a:r>
          </a:p>
          <a:p>
            <a:pPr algn="ctr">
              <a:lnSpc>
                <a:spcPts val="629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746360"/>
            <a:ext cx="833497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B39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DDoS Attacks Are Getting Worse, Faster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1377" y="2997935"/>
            <a:ext cx="7244699" cy="4675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</a:pPr>
          </a:p>
          <a:p>
            <a:pPr algn="l" marL="539749" indent="-269875" lvl="1">
              <a:lnSpc>
                <a:spcPts val="4124"/>
              </a:lnSpc>
              <a:buFont typeface="Arial"/>
              <a:buChar char="•"/>
            </a:pPr>
            <a:r>
              <a:rPr lang="en-US" b="true" sz="2499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Financial platforms, healthcare portals, and government services are rendered unavailable [10], [12]</a:t>
            </a:r>
          </a:p>
          <a:p>
            <a:pPr algn="l" marL="539749" indent="-269875" lvl="1">
              <a:lnSpc>
                <a:spcPts val="4124"/>
              </a:lnSpc>
              <a:buFont typeface="Arial"/>
              <a:buChar char="•"/>
            </a:pPr>
            <a:r>
              <a:rPr lang="en-US" b="true" sz="2499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Signature/rule-based IDS cannot keep up with fast-evolving, multi-vector attacks; it only detects attack types it has seen before. </a:t>
            </a:r>
          </a:p>
          <a:p>
            <a:pPr algn="l">
              <a:lnSpc>
                <a:spcPts val="51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882859" y="3121760"/>
            <a:ext cx="7126382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B39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Why</a:t>
            </a:r>
            <a:r>
              <a:rPr lang="en-US" b="true" sz="3399">
                <a:solidFill>
                  <a:srgbClr val="0B39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Machine Learning?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11638" y="4035525"/>
            <a:ext cx="6468824" cy="524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Adaptive, data-d</a:t>
            </a:r>
            <a:r>
              <a:rPr lang="en-US" b="true" sz="2499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riven classification that can learn from data and detect new or previously unseen attack patterns, going beyond fixed attack signatures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Tree-based ensembles (DT, RF, XGBoost, LightGBM) show strong benchmark performance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But: most studies test one algorithm, skip feature selection, or never test generalization to new attack types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7783320" y="9611497"/>
            <a:ext cx="19812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-4733" t="0" r="-4733" b="-598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8829" y="2139303"/>
            <a:ext cx="5585428" cy="2942548"/>
          </a:xfrm>
          <a:custGeom>
            <a:avLst/>
            <a:gdLst/>
            <a:ahLst/>
            <a:cxnLst/>
            <a:rect r="r" b="b" t="t" l="l"/>
            <a:pathLst>
              <a:path h="2942548" w="5585428">
                <a:moveTo>
                  <a:pt x="0" y="0"/>
                </a:moveTo>
                <a:lnTo>
                  <a:pt x="5585428" y="0"/>
                </a:lnTo>
                <a:lnTo>
                  <a:pt x="5585428" y="2942548"/>
                </a:lnTo>
                <a:lnTo>
                  <a:pt x="0" y="2942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9569" b="-40777"/>
            </a:stretch>
          </a:blipFill>
          <a:ln w="38100" cap="sq">
            <a:solidFill>
              <a:srgbClr val="0B395E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614576" y="2139303"/>
            <a:ext cx="5585428" cy="2942548"/>
          </a:xfrm>
          <a:custGeom>
            <a:avLst/>
            <a:gdLst/>
            <a:ahLst/>
            <a:cxnLst/>
            <a:rect r="r" b="b" t="t" l="l"/>
            <a:pathLst>
              <a:path h="2942548" w="5585428">
                <a:moveTo>
                  <a:pt x="0" y="0"/>
                </a:moveTo>
                <a:lnTo>
                  <a:pt x="5585428" y="0"/>
                </a:lnTo>
                <a:lnTo>
                  <a:pt x="5585428" y="2942548"/>
                </a:lnTo>
                <a:lnTo>
                  <a:pt x="0" y="2942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9569" b="-40777"/>
            </a:stretch>
          </a:blipFill>
          <a:ln w="38100" cap="sq">
            <a:solidFill>
              <a:srgbClr val="0B395E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657204" y="2139303"/>
            <a:ext cx="5053877" cy="2942548"/>
          </a:xfrm>
          <a:custGeom>
            <a:avLst/>
            <a:gdLst/>
            <a:ahLst/>
            <a:cxnLst/>
            <a:rect r="r" b="b" t="t" l="l"/>
            <a:pathLst>
              <a:path h="2942548" w="5053877">
                <a:moveTo>
                  <a:pt x="0" y="0"/>
                </a:moveTo>
                <a:lnTo>
                  <a:pt x="5053877" y="0"/>
                </a:lnTo>
                <a:lnTo>
                  <a:pt x="5053877" y="2942548"/>
                </a:lnTo>
                <a:lnTo>
                  <a:pt x="0" y="2942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9507" b="-40777"/>
            </a:stretch>
          </a:blipFill>
          <a:ln w="38100" cap="sq">
            <a:solidFill>
              <a:srgbClr val="0B395E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05497" y="6276921"/>
            <a:ext cx="1485322" cy="1028300"/>
          </a:xfrm>
          <a:custGeom>
            <a:avLst/>
            <a:gdLst/>
            <a:ahLst/>
            <a:cxnLst/>
            <a:rect r="r" b="b" t="t" l="l"/>
            <a:pathLst>
              <a:path h="1028300" w="1485322">
                <a:moveTo>
                  <a:pt x="0" y="0"/>
                </a:moveTo>
                <a:lnTo>
                  <a:pt x="1485322" y="0"/>
                </a:lnTo>
                <a:lnTo>
                  <a:pt x="1485322" y="1028300"/>
                </a:lnTo>
                <a:lnTo>
                  <a:pt x="0" y="102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80593" y="130175"/>
            <a:ext cx="9152731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7A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 &amp; Research Questions</a:t>
            </a:r>
          </a:p>
          <a:p>
            <a:pPr algn="ctr">
              <a:lnSpc>
                <a:spcPts val="62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10693" y="1378268"/>
            <a:ext cx="251142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B39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8829" y="2312002"/>
            <a:ext cx="5585428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B39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&amp; Model Implementati</a:t>
            </a:r>
            <a:r>
              <a:rPr lang="en-US" b="true" sz="2499">
                <a:solidFill>
                  <a:srgbClr val="0B39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B39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9831" y="3476707"/>
            <a:ext cx="5085145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B395E"/>
                </a:solidFill>
                <a:latin typeface="Canva Sans"/>
                <a:ea typeface="Canva Sans"/>
                <a:cs typeface="Canva Sans"/>
                <a:sym typeface="Canva Sans"/>
              </a:rPr>
              <a:t>Acquire &amp; clean CIC-DD</a:t>
            </a:r>
            <a:r>
              <a:rPr lang="en-US" sz="2000">
                <a:solidFill>
                  <a:srgbClr val="0B395E"/>
                </a:solidFill>
                <a:latin typeface="Canva Sans"/>
                <a:ea typeface="Canva Sans"/>
                <a:cs typeface="Canva Sans"/>
                <a:sym typeface="Canva Sans"/>
              </a:rPr>
              <a:t>oS2019; implement DT, RF, XGBoost, LightGBM and compare accuracy, FPR, and training/inference time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444154" y="2224388"/>
            <a:ext cx="558542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B39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 &amp; Optimise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19988" y="3460750"/>
            <a:ext cx="5241483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B395E"/>
                </a:solidFill>
                <a:latin typeface="Canva Sans"/>
                <a:ea typeface="Canva Sans"/>
                <a:cs typeface="Canva Sans"/>
                <a:sym typeface="Canva Sans"/>
              </a:rPr>
              <a:t>Apply a feature selection process, Filter→Wrapper→Embedded pipeline; evaluate accuracy vs. training time, inference time &amp; memory usage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418842" y="2411713"/>
            <a:ext cx="35306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B39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Generalise &amp; Fine-Tune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13542" y="3541976"/>
            <a:ext cx="474120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B395E"/>
                </a:solidFill>
                <a:latin typeface="Canva Sans"/>
                <a:ea typeface="Canva Sans"/>
                <a:cs typeface="Canva Sans"/>
                <a:sym typeface="Canva Sans"/>
              </a:rPr>
              <a:t>Train the best classifier on known attacks, test on an unseen attack type, then fine-tune with 10–20% stratified target data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97225" y="5397582"/>
            <a:ext cx="464978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B39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RESEARCH QUESTIONS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2411" y="6448488"/>
            <a:ext cx="85149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RQ1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05497" y="7543228"/>
            <a:ext cx="1485322" cy="1028300"/>
          </a:xfrm>
          <a:custGeom>
            <a:avLst/>
            <a:gdLst/>
            <a:ahLst/>
            <a:cxnLst/>
            <a:rect r="r" b="b" t="t" l="l"/>
            <a:pathLst>
              <a:path h="1028300" w="1485322">
                <a:moveTo>
                  <a:pt x="0" y="0"/>
                </a:moveTo>
                <a:lnTo>
                  <a:pt x="1485322" y="0"/>
                </a:lnTo>
                <a:lnTo>
                  <a:pt x="1485322" y="1028300"/>
                </a:lnTo>
                <a:lnTo>
                  <a:pt x="0" y="102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86447" y="8809653"/>
            <a:ext cx="1485322" cy="1028300"/>
          </a:xfrm>
          <a:custGeom>
            <a:avLst/>
            <a:gdLst/>
            <a:ahLst/>
            <a:cxnLst/>
            <a:rect r="r" b="b" t="t" l="l"/>
            <a:pathLst>
              <a:path h="1028300" w="1485322">
                <a:moveTo>
                  <a:pt x="0" y="0"/>
                </a:moveTo>
                <a:lnTo>
                  <a:pt x="1485322" y="0"/>
                </a:lnTo>
                <a:lnTo>
                  <a:pt x="1485322" y="1028300"/>
                </a:lnTo>
                <a:lnTo>
                  <a:pt x="0" y="102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84359" y="7769406"/>
            <a:ext cx="86459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RQ2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4359" y="9022715"/>
            <a:ext cx="87907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RQ3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80640" y="6427651"/>
            <a:ext cx="14845335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B39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do Decision Tree, Random Forest, XGBoost, and LightGBM compare in accuracy, false-positive rate, training time, and computational overhead on CIC-DDoS2019?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80640" y="7622086"/>
            <a:ext cx="14738194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B39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does a three-stage (Filter → Wrapper → Embedded) feature selection pipeline affect detection accuracy and computational efficiency versus the full feature set?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80640" y="8875395"/>
            <a:ext cx="14968481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B39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well does the best classifier generalise to an unseen DDoS attack type, and how much does fine-tuning with a small amount of target data improve detection?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777307" y="9611497"/>
            <a:ext cx="21014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-4733" t="0" r="-4733" b="-598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6371" y="2260164"/>
            <a:ext cx="476578" cy="476578"/>
          </a:xfrm>
          <a:custGeom>
            <a:avLst/>
            <a:gdLst/>
            <a:ahLst/>
            <a:cxnLst/>
            <a:rect r="r" b="b" t="t" l="l"/>
            <a:pathLst>
              <a:path h="476578" w="476578">
                <a:moveTo>
                  <a:pt x="0" y="0"/>
                </a:moveTo>
                <a:lnTo>
                  <a:pt x="476578" y="0"/>
                </a:lnTo>
                <a:lnTo>
                  <a:pt x="476578" y="476578"/>
                </a:lnTo>
                <a:lnTo>
                  <a:pt x="0" y="476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6371" y="2873777"/>
            <a:ext cx="5585428" cy="1441700"/>
          </a:xfrm>
          <a:custGeom>
            <a:avLst/>
            <a:gdLst/>
            <a:ahLst/>
            <a:cxnLst/>
            <a:rect r="r" b="b" t="t" l="l"/>
            <a:pathLst>
              <a:path h="1441700" w="5585428">
                <a:moveTo>
                  <a:pt x="0" y="0"/>
                </a:moveTo>
                <a:lnTo>
                  <a:pt x="5585428" y="0"/>
                </a:lnTo>
                <a:lnTo>
                  <a:pt x="5585428" y="1441700"/>
                </a:lnTo>
                <a:lnTo>
                  <a:pt x="0" y="144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89569" b="-187331"/>
            </a:stretch>
          </a:blipFill>
          <a:ln w="38100" cap="sq">
            <a:solidFill>
              <a:srgbClr val="DBE8F5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521435" y="2124884"/>
            <a:ext cx="632839" cy="632839"/>
          </a:xfrm>
          <a:custGeom>
            <a:avLst/>
            <a:gdLst/>
            <a:ahLst/>
            <a:cxnLst/>
            <a:rect r="r" b="b" t="t" l="l"/>
            <a:pathLst>
              <a:path h="632839" w="632839">
                <a:moveTo>
                  <a:pt x="0" y="0"/>
                </a:moveTo>
                <a:lnTo>
                  <a:pt x="632839" y="0"/>
                </a:lnTo>
                <a:lnTo>
                  <a:pt x="632839" y="632839"/>
                </a:lnTo>
                <a:lnTo>
                  <a:pt x="0" y="6328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04926" y="2830405"/>
            <a:ext cx="5147680" cy="1666494"/>
          </a:xfrm>
          <a:custGeom>
            <a:avLst/>
            <a:gdLst/>
            <a:ahLst/>
            <a:cxnLst/>
            <a:rect r="r" b="b" t="t" l="l"/>
            <a:pathLst>
              <a:path h="1666494" w="5147680">
                <a:moveTo>
                  <a:pt x="0" y="0"/>
                </a:moveTo>
                <a:lnTo>
                  <a:pt x="5147680" y="0"/>
                </a:lnTo>
                <a:lnTo>
                  <a:pt x="5147680" y="1666494"/>
                </a:lnTo>
                <a:lnTo>
                  <a:pt x="0" y="16664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05689" b="-148572"/>
            </a:stretch>
          </a:blipFill>
          <a:ln w="38100" cap="sq">
            <a:solidFill>
              <a:srgbClr val="DBE8F5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771706" y="2873777"/>
            <a:ext cx="4956609" cy="1441700"/>
          </a:xfrm>
          <a:custGeom>
            <a:avLst/>
            <a:gdLst/>
            <a:ahLst/>
            <a:cxnLst/>
            <a:rect r="r" b="b" t="t" l="l"/>
            <a:pathLst>
              <a:path h="1441700" w="4956609">
                <a:moveTo>
                  <a:pt x="0" y="0"/>
                </a:moveTo>
                <a:lnTo>
                  <a:pt x="4956609" y="0"/>
                </a:lnTo>
                <a:lnTo>
                  <a:pt x="4956609" y="1441700"/>
                </a:lnTo>
                <a:lnTo>
                  <a:pt x="0" y="1441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13618" b="-187331"/>
            </a:stretch>
          </a:blipFill>
          <a:ln w="38100" cap="sq">
            <a:solidFill>
              <a:srgbClr val="DBE8F5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3126578" y="2178590"/>
            <a:ext cx="626036" cy="639727"/>
          </a:xfrm>
          <a:custGeom>
            <a:avLst/>
            <a:gdLst/>
            <a:ahLst/>
            <a:cxnLst/>
            <a:rect r="r" b="b" t="t" l="l"/>
            <a:pathLst>
              <a:path h="639727" w="626036">
                <a:moveTo>
                  <a:pt x="0" y="0"/>
                </a:moveTo>
                <a:lnTo>
                  <a:pt x="626036" y="0"/>
                </a:lnTo>
                <a:lnTo>
                  <a:pt x="626036" y="639727"/>
                </a:lnTo>
                <a:lnTo>
                  <a:pt x="0" y="639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538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4584" y="5201495"/>
            <a:ext cx="16983731" cy="4628298"/>
          </a:xfrm>
          <a:custGeom>
            <a:avLst/>
            <a:gdLst/>
            <a:ahLst/>
            <a:cxnLst/>
            <a:rect r="r" b="b" t="t" l="l"/>
            <a:pathLst>
              <a:path h="4628298" w="16983731">
                <a:moveTo>
                  <a:pt x="0" y="0"/>
                </a:moveTo>
                <a:lnTo>
                  <a:pt x="16983731" y="0"/>
                </a:lnTo>
                <a:lnTo>
                  <a:pt x="16983731" y="4628298"/>
                </a:lnTo>
                <a:lnTo>
                  <a:pt x="0" y="46282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921" t="0" r="-6921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349601" y="193675"/>
            <a:ext cx="1004897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7A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Literature Review and Research Gap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1358782"/>
            <a:ext cx="883316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B395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Limitations of Existing Approaches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6447" y="2306202"/>
            <a:ext cx="516026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167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Saluja et al. [1], Al-Eryani et al. [2]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8951" y="3039955"/>
            <a:ext cx="5160268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20C45"/>
                </a:solidFill>
                <a:latin typeface="Canva Sans"/>
                <a:ea typeface="Canva Sans"/>
                <a:cs typeface="Canva Sans"/>
                <a:sym typeface="Canva Sans"/>
              </a:rPr>
              <a:t> Tree-based models achieve high accuracy, but no feature selection or evaluate efficiency metrics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58287" y="2263503"/>
            <a:ext cx="203160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167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Sakr et al. [6]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64260" y="3027255"/>
            <a:ext cx="5129001" cy="171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>
                <a:solidFill>
                  <a:srgbClr val="020C45"/>
                </a:solidFill>
                <a:latin typeface="Canva Sans"/>
                <a:ea typeface="Canva Sans"/>
                <a:cs typeface="Canva Sans"/>
                <a:sym typeface="Canva Sans"/>
              </a:rPr>
              <a:t>Hyb</a:t>
            </a:r>
            <a:r>
              <a:rPr lang="en-US" sz="2199">
                <a:solidFill>
                  <a:srgbClr val="020C45"/>
                </a:solidFill>
                <a:latin typeface="Canva Sans"/>
                <a:ea typeface="Canva Sans"/>
                <a:cs typeface="Canva Sans"/>
                <a:sym typeface="Canva Sans"/>
              </a:rPr>
              <a:t>rid feature selection,filter+wrapper cut features 79→35, but never benchmarked cross-attack generalisation</a:t>
            </a:r>
          </a:p>
          <a:p>
            <a:pPr algn="l">
              <a:lnSpc>
                <a:spcPts val="274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3828814" y="2306202"/>
            <a:ext cx="262304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167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Cantone et al. [7]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24106" y="2998680"/>
            <a:ext cx="4651809" cy="187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20C45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100">
                <a:solidFill>
                  <a:srgbClr val="020C45"/>
                </a:solidFill>
                <a:latin typeface="Canva Sans"/>
                <a:ea typeface="Canva Sans"/>
                <a:cs typeface="Canva Sans"/>
                <a:sym typeface="Canva Sans"/>
              </a:rPr>
              <a:t>ross-dataset accuracy collapsed to near-random — and no fine-tuning was attempted to recover it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34660" y="5668027"/>
            <a:ext cx="465127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B7E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Gap This Study Addresses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8951" y="6452019"/>
            <a:ext cx="10698611" cy="256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9"/>
              </a:lnSpc>
            </a:pPr>
            <a:r>
              <a:rPr lang="en-US" b="true" sz="2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single study combines all three: </a:t>
            </a:r>
          </a:p>
          <a:p>
            <a:pPr algn="l">
              <a:lnSpc>
                <a:spcPts val="5249"/>
              </a:lnSpc>
            </a:pPr>
            <a:r>
              <a:rPr lang="en-US" b="true" sz="2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(1) a 4-algorithm comparison,</a:t>
            </a:r>
          </a:p>
          <a:p>
            <a:pPr algn="l">
              <a:lnSpc>
                <a:spcPts val="5249"/>
              </a:lnSpc>
            </a:pPr>
            <a:r>
              <a:rPr lang="en-US" b="true" sz="2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(2) a structured 3-stage feature selection pipeline, and</a:t>
            </a:r>
          </a:p>
          <a:p>
            <a:pPr algn="l">
              <a:lnSpc>
                <a:spcPts val="5249"/>
              </a:lnSpc>
            </a:pPr>
            <a:r>
              <a:rPr lang="en-US" b="true" sz="2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(3) cross-attack-type generalisation with fine-tuning recovery.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771771" y="9611497"/>
            <a:ext cx="22121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-4733" t="0" r="-4733" b="-598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7586" y="1231638"/>
            <a:ext cx="16592846" cy="8296423"/>
          </a:xfrm>
          <a:custGeom>
            <a:avLst/>
            <a:gdLst/>
            <a:ahLst/>
            <a:cxnLst/>
            <a:rect r="r" b="b" t="t" l="l"/>
            <a:pathLst>
              <a:path h="8296423" w="16592846">
                <a:moveTo>
                  <a:pt x="0" y="0"/>
                </a:moveTo>
                <a:lnTo>
                  <a:pt x="16592846" y="0"/>
                </a:lnTo>
                <a:lnTo>
                  <a:pt x="16592846" y="8296423"/>
                </a:lnTo>
                <a:lnTo>
                  <a:pt x="0" y="82964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77289" y="184150"/>
            <a:ext cx="713342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7A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775402" y="9611497"/>
            <a:ext cx="21395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-4733" t="0" r="-4733" b="-598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7484" y="1490094"/>
            <a:ext cx="16473032" cy="2771878"/>
            <a:chOff x="0" y="0"/>
            <a:chExt cx="21964042" cy="369583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1964042" cy="3695838"/>
              <a:chOff x="0" y="0"/>
              <a:chExt cx="4338576" cy="73004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338576" cy="730042"/>
              </a:xfrm>
              <a:custGeom>
                <a:avLst/>
                <a:gdLst/>
                <a:ahLst/>
                <a:cxnLst/>
                <a:rect r="r" b="b" t="t" l="l"/>
                <a:pathLst>
                  <a:path h="730042" w="4338576">
                    <a:moveTo>
                      <a:pt x="8006" y="0"/>
                    </a:moveTo>
                    <a:lnTo>
                      <a:pt x="4330571" y="0"/>
                    </a:lnTo>
                    <a:cubicBezTo>
                      <a:pt x="4334992" y="0"/>
                      <a:pt x="4338576" y="3584"/>
                      <a:pt x="4338576" y="8006"/>
                    </a:cubicBezTo>
                    <a:lnTo>
                      <a:pt x="4338576" y="722036"/>
                    </a:lnTo>
                    <a:cubicBezTo>
                      <a:pt x="4338576" y="724160"/>
                      <a:pt x="4337733" y="726196"/>
                      <a:pt x="4336231" y="727697"/>
                    </a:cubicBezTo>
                    <a:cubicBezTo>
                      <a:pt x="4334730" y="729199"/>
                      <a:pt x="4332694" y="730042"/>
                      <a:pt x="4330571" y="730042"/>
                    </a:cubicBezTo>
                    <a:lnTo>
                      <a:pt x="8006" y="730042"/>
                    </a:lnTo>
                    <a:cubicBezTo>
                      <a:pt x="5882" y="730042"/>
                      <a:pt x="3846" y="729199"/>
                      <a:pt x="2345" y="727697"/>
                    </a:cubicBezTo>
                    <a:cubicBezTo>
                      <a:pt x="843" y="726196"/>
                      <a:pt x="0" y="724160"/>
                      <a:pt x="0" y="722036"/>
                    </a:cubicBezTo>
                    <a:lnTo>
                      <a:pt x="0" y="8006"/>
                    </a:lnTo>
                    <a:cubicBezTo>
                      <a:pt x="0" y="5882"/>
                      <a:pt x="843" y="3846"/>
                      <a:pt x="2345" y="2345"/>
                    </a:cubicBezTo>
                    <a:cubicBezTo>
                      <a:pt x="3846" y="843"/>
                      <a:pt x="5882" y="0"/>
                      <a:pt x="8006" y="0"/>
                    </a:cubicBezTo>
                    <a:close/>
                  </a:path>
                </a:pathLst>
              </a:custGeom>
              <a:solidFill>
                <a:srgbClr val="FAF9F9"/>
              </a:solidFill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338576" cy="768142"/>
              </a:xfrm>
              <a:prstGeom prst="rect">
                <a:avLst/>
              </a:prstGeom>
            </p:spPr>
            <p:txBody>
              <a:bodyPr anchor="ctr" rtlCol="false" tIns="50698" lIns="50698" bIns="50698" rIns="5069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06946" y="271805"/>
              <a:ext cx="3198966" cy="3095446"/>
              <a:chOff x="0" y="0"/>
              <a:chExt cx="630630" cy="61022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0630" cy="610223"/>
              </a:xfrm>
              <a:custGeom>
                <a:avLst/>
                <a:gdLst/>
                <a:ahLst/>
                <a:cxnLst/>
                <a:rect r="r" b="b" t="t" l="l"/>
                <a:pathLst>
                  <a:path h="610223" w="630630">
                    <a:moveTo>
                      <a:pt x="54966" y="0"/>
                    </a:moveTo>
                    <a:lnTo>
                      <a:pt x="575664" y="0"/>
                    </a:lnTo>
                    <a:cubicBezTo>
                      <a:pt x="606021" y="0"/>
                      <a:pt x="630630" y="24609"/>
                      <a:pt x="630630" y="54966"/>
                    </a:cubicBezTo>
                    <a:lnTo>
                      <a:pt x="630630" y="555257"/>
                    </a:lnTo>
                    <a:cubicBezTo>
                      <a:pt x="630630" y="569835"/>
                      <a:pt x="624839" y="583815"/>
                      <a:pt x="614531" y="594124"/>
                    </a:cubicBezTo>
                    <a:cubicBezTo>
                      <a:pt x="604223" y="604432"/>
                      <a:pt x="590242" y="610223"/>
                      <a:pt x="575664" y="610223"/>
                    </a:cubicBezTo>
                    <a:lnTo>
                      <a:pt x="54966" y="610223"/>
                    </a:lnTo>
                    <a:cubicBezTo>
                      <a:pt x="24609" y="610223"/>
                      <a:pt x="0" y="585614"/>
                      <a:pt x="0" y="555257"/>
                    </a:cubicBezTo>
                    <a:lnTo>
                      <a:pt x="0" y="54966"/>
                    </a:lnTo>
                    <a:cubicBezTo>
                      <a:pt x="0" y="24609"/>
                      <a:pt x="24609" y="0"/>
                      <a:pt x="54966" y="0"/>
                    </a:cubicBezTo>
                    <a:close/>
                  </a:path>
                </a:pathLst>
              </a:custGeom>
              <a:solidFill>
                <a:srgbClr val="DBE8F5"/>
              </a:solidFill>
              <a:ln w="38100" cap="sq">
                <a:solidFill>
                  <a:srgbClr val="020C45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30630" cy="6483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r>
                  <a:rPr lang="en-US" b="true" sz="1900">
                    <a:solidFill>
                      <a:srgbClr val="020C45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Data Ingestion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3933955" y="297256"/>
              <a:ext cx="3198966" cy="3095446"/>
              <a:chOff x="0" y="0"/>
              <a:chExt cx="630630" cy="61022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0630" cy="610223"/>
              </a:xfrm>
              <a:custGeom>
                <a:avLst/>
                <a:gdLst/>
                <a:ahLst/>
                <a:cxnLst/>
                <a:rect r="r" b="b" t="t" l="l"/>
                <a:pathLst>
                  <a:path h="610223" w="630630">
                    <a:moveTo>
                      <a:pt x="54966" y="0"/>
                    </a:moveTo>
                    <a:lnTo>
                      <a:pt x="575664" y="0"/>
                    </a:lnTo>
                    <a:cubicBezTo>
                      <a:pt x="606021" y="0"/>
                      <a:pt x="630630" y="24609"/>
                      <a:pt x="630630" y="54966"/>
                    </a:cubicBezTo>
                    <a:lnTo>
                      <a:pt x="630630" y="555257"/>
                    </a:lnTo>
                    <a:cubicBezTo>
                      <a:pt x="630630" y="569835"/>
                      <a:pt x="624839" y="583815"/>
                      <a:pt x="614531" y="594124"/>
                    </a:cubicBezTo>
                    <a:cubicBezTo>
                      <a:pt x="604223" y="604432"/>
                      <a:pt x="590242" y="610223"/>
                      <a:pt x="575664" y="610223"/>
                    </a:cubicBezTo>
                    <a:lnTo>
                      <a:pt x="54966" y="610223"/>
                    </a:lnTo>
                    <a:cubicBezTo>
                      <a:pt x="24609" y="610223"/>
                      <a:pt x="0" y="585614"/>
                      <a:pt x="0" y="555257"/>
                    </a:cubicBezTo>
                    <a:lnTo>
                      <a:pt x="0" y="54966"/>
                    </a:lnTo>
                    <a:cubicBezTo>
                      <a:pt x="0" y="24609"/>
                      <a:pt x="24609" y="0"/>
                      <a:pt x="54966" y="0"/>
                    </a:cubicBezTo>
                    <a:close/>
                  </a:path>
                </a:pathLst>
              </a:custGeom>
              <a:solidFill>
                <a:srgbClr val="E1E7D9"/>
              </a:solidFill>
              <a:ln w="38100" cap="sq">
                <a:solidFill>
                  <a:srgbClr val="020C45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30630" cy="6483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r>
                  <a:rPr lang="en-US" b="true" sz="1900">
                    <a:solidFill>
                      <a:srgbClr val="020C45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Data Cleaning (inf/Nan, duplicates)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7560964" y="271805"/>
              <a:ext cx="3198966" cy="3095446"/>
              <a:chOff x="0" y="0"/>
              <a:chExt cx="630630" cy="61022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0630" cy="610223"/>
              </a:xfrm>
              <a:custGeom>
                <a:avLst/>
                <a:gdLst/>
                <a:ahLst/>
                <a:cxnLst/>
                <a:rect r="r" b="b" t="t" l="l"/>
                <a:pathLst>
                  <a:path h="610223" w="630630">
                    <a:moveTo>
                      <a:pt x="54966" y="0"/>
                    </a:moveTo>
                    <a:lnTo>
                      <a:pt x="575664" y="0"/>
                    </a:lnTo>
                    <a:cubicBezTo>
                      <a:pt x="606021" y="0"/>
                      <a:pt x="630630" y="24609"/>
                      <a:pt x="630630" y="54966"/>
                    </a:cubicBezTo>
                    <a:lnTo>
                      <a:pt x="630630" y="555257"/>
                    </a:lnTo>
                    <a:cubicBezTo>
                      <a:pt x="630630" y="569835"/>
                      <a:pt x="624839" y="583815"/>
                      <a:pt x="614531" y="594124"/>
                    </a:cubicBezTo>
                    <a:cubicBezTo>
                      <a:pt x="604223" y="604432"/>
                      <a:pt x="590242" y="610223"/>
                      <a:pt x="575664" y="610223"/>
                    </a:cubicBezTo>
                    <a:lnTo>
                      <a:pt x="54966" y="610223"/>
                    </a:lnTo>
                    <a:cubicBezTo>
                      <a:pt x="24609" y="610223"/>
                      <a:pt x="0" y="585614"/>
                      <a:pt x="0" y="555257"/>
                    </a:cubicBezTo>
                    <a:lnTo>
                      <a:pt x="0" y="54966"/>
                    </a:lnTo>
                    <a:cubicBezTo>
                      <a:pt x="0" y="24609"/>
                      <a:pt x="24609" y="0"/>
                      <a:pt x="54966" y="0"/>
                    </a:cubicBezTo>
                    <a:close/>
                  </a:path>
                </a:pathLst>
              </a:custGeom>
              <a:solidFill>
                <a:srgbClr val="F7D7D7"/>
              </a:solidFill>
              <a:ln w="38100" cap="sq">
                <a:solidFill>
                  <a:srgbClr val="020C45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630630" cy="6483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r>
                  <a:rPr lang="en-US" b="true" sz="1900">
                    <a:solidFill>
                      <a:srgbClr val="020C45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Label Preparation &amp; Scaling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1192596" y="271805"/>
              <a:ext cx="3198966" cy="3095446"/>
              <a:chOff x="0" y="0"/>
              <a:chExt cx="630630" cy="61022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0630" cy="610223"/>
              </a:xfrm>
              <a:custGeom>
                <a:avLst/>
                <a:gdLst/>
                <a:ahLst/>
                <a:cxnLst/>
                <a:rect r="r" b="b" t="t" l="l"/>
                <a:pathLst>
                  <a:path h="610223" w="630630">
                    <a:moveTo>
                      <a:pt x="54966" y="0"/>
                    </a:moveTo>
                    <a:lnTo>
                      <a:pt x="575664" y="0"/>
                    </a:lnTo>
                    <a:cubicBezTo>
                      <a:pt x="606021" y="0"/>
                      <a:pt x="630630" y="24609"/>
                      <a:pt x="630630" y="54966"/>
                    </a:cubicBezTo>
                    <a:lnTo>
                      <a:pt x="630630" y="555257"/>
                    </a:lnTo>
                    <a:cubicBezTo>
                      <a:pt x="630630" y="569835"/>
                      <a:pt x="624839" y="583815"/>
                      <a:pt x="614531" y="594124"/>
                    </a:cubicBezTo>
                    <a:cubicBezTo>
                      <a:pt x="604223" y="604432"/>
                      <a:pt x="590242" y="610223"/>
                      <a:pt x="575664" y="610223"/>
                    </a:cubicBezTo>
                    <a:lnTo>
                      <a:pt x="54966" y="610223"/>
                    </a:lnTo>
                    <a:cubicBezTo>
                      <a:pt x="24609" y="610223"/>
                      <a:pt x="0" y="585614"/>
                      <a:pt x="0" y="555257"/>
                    </a:cubicBezTo>
                    <a:lnTo>
                      <a:pt x="0" y="54966"/>
                    </a:lnTo>
                    <a:cubicBezTo>
                      <a:pt x="0" y="24609"/>
                      <a:pt x="24609" y="0"/>
                      <a:pt x="54966" y="0"/>
                    </a:cubicBezTo>
                    <a:close/>
                  </a:path>
                </a:pathLst>
              </a:custGeom>
              <a:solidFill>
                <a:srgbClr val="DBE8F5"/>
              </a:solidFill>
              <a:ln w="38100" cap="sq">
                <a:solidFill>
                  <a:srgbClr val="020C45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30630" cy="6483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  <a:p>
                <a:pPr algn="ctr">
                  <a:lnSpc>
                    <a:spcPts val="2660"/>
                  </a:lnSpc>
                </a:pPr>
                <a:r>
                  <a:rPr lang="en-US" sz="1900" b="true">
                    <a:solidFill>
                      <a:srgbClr val="020C45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RQ1</a:t>
                </a:r>
              </a:p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r>
                  <a:rPr lang="en-US" b="true" sz="1900">
                    <a:solidFill>
                      <a:srgbClr val="020C45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Baseline Training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4810399" y="271805"/>
              <a:ext cx="3198966" cy="3095446"/>
              <a:chOff x="0" y="0"/>
              <a:chExt cx="630630" cy="61022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0630" cy="610223"/>
              </a:xfrm>
              <a:custGeom>
                <a:avLst/>
                <a:gdLst/>
                <a:ahLst/>
                <a:cxnLst/>
                <a:rect r="r" b="b" t="t" l="l"/>
                <a:pathLst>
                  <a:path h="610223" w="630630">
                    <a:moveTo>
                      <a:pt x="54966" y="0"/>
                    </a:moveTo>
                    <a:lnTo>
                      <a:pt x="575664" y="0"/>
                    </a:lnTo>
                    <a:cubicBezTo>
                      <a:pt x="606021" y="0"/>
                      <a:pt x="630630" y="24609"/>
                      <a:pt x="630630" y="54966"/>
                    </a:cubicBezTo>
                    <a:lnTo>
                      <a:pt x="630630" y="555257"/>
                    </a:lnTo>
                    <a:cubicBezTo>
                      <a:pt x="630630" y="569835"/>
                      <a:pt x="624839" y="583815"/>
                      <a:pt x="614531" y="594124"/>
                    </a:cubicBezTo>
                    <a:cubicBezTo>
                      <a:pt x="604223" y="604432"/>
                      <a:pt x="590242" y="610223"/>
                      <a:pt x="575664" y="610223"/>
                    </a:cubicBezTo>
                    <a:lnTo>
                      <a:pt x="54966" y="610223"/>
                    </a:lnTo>
                    <a:cubicBezTo>
                      <a:pt x="24609" y="610223"/>
                      <a:pt x="0" y="585614"/>
                      <a:pt x="0" y="555257"/>
                    </a:cubicBezTo>
                    <a:lnTo>
                      <a:pt x="0" y="54966"/>
                    </a:lnTo>
                    <a:cubicBezTo>
                      <a:pt x="0" y="24609"/>
                      <a:pt x="24609" y="0"/>
                      <a:pt x="54966" y="0"/>
                    </a:cubicBezTo>
                    <a:close/>
                  </a:path>
                </a:pathLst>
              </a:custGeom>
              <a:solidFill>
                <a:srgbClr val="E1E7D9"/>
              </a:solidFill>
              <a:ln w="38100" cap="sq">
                <a:solidFill>
                  <a:srgbClr val="020C45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30630" cy="6483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  <a:p>
                <a:pPr algn="ctr">
                  <a:lnSpc>
                    <a:spcPts val="2660"/>
                  </a:lnSpc>
                </a:pPr>
                <a:r>
                  <a:rPr lang="en-US" sz="1900" b="true">
                    <a:solidFill>
                      <a:srgbClr val="020C45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RQ2</a:t>
                </a:r>
              </a:p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r>
                  <a:rPr lang="en-US" b="true" sz="1900">
                    <a:solidFill>
                      <a:srgbClr val="020C45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Feature Selection and Retrain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8458130" y="297256"/>
              <a:ext cx="3198966" cy="3095446"/>
              <a:chOff x="0" y="0"/>
              <a:chExt cx="630630" cy="61022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0630" cy="610223"/>
              </a:xfrm>
              <a:custGeom>
                <a:avLst/>
                <a:gdLst/>
                <a:ahLst/>
                <a:cxnLst/>
                <a:rect r="r" b="b" t="t" l="l"/>
                <a:pathLst>
                  <a:path h="610223" w="630630">
                    <a:moveTo>
                      <a:pt x="54966" y="0"/>
                    </a:moveTo>
                    <a:lnTo>
                      <a:pt x="575664" y="0"/>
                    </a:lnTo>
                    <a:cubicBezTo>
                      <a:pt x="606021" y="0"/>
                      <a:pt x="630630" y="24609"/>
                      <a:pt x="630630" y="54966"/>
                    </a:cubicBezTo>
                    <a:lnTo>
                      <a:pt x="630630" y="555257"/>
                    </a:lnTo>
                    <a:cubicBezTo>
                      <a:pt x="630630" y="569835"/>
                      <a:pt x="624839" y="583815"/>
                      <a:pt x="614531" y="594124"/>
                    </a:cubicBezTo>
                    <a:cubicBezTo>
                      <a:pt x="604223" y="604432"/>
                      <a:pt x="590242" y="610223"/>
                      <a:pt x="575664" y="610223"/>
                    </a:cubicBezTo>
                    <a:lnTo>
                      <a:pt x="54966" y="610223"/>
                    </a:lnTo>
                    <a:cubicBezTo>
                      <a:pt x="24609" y="610223"/>
                      <a:pt x="0" y="585614"/>
                      <a:pt x="0" y="555257"/>
                    </a:cubicBezTo>
                    <a:lnTo>
                      <a:pt x="0" y="54966"/>
                    </a:lnTo>
                    <a:cubicBezTo>
                      <a:pt x="0" y="24609"/>
                      <a:pt x="24609" y="0"/>
                      <a:pt x="54966" y="0"/>
                    </a:cubicBezTo>
                    <a:close/>
                  </a:path>
                </a:pathLst>
              </a:custGeom>
              <a:solidFill>
                <a:srgbClr val="F7D7D7"/>
              </a:solidFill>
              <a:ln w="38100" cap="sq">
                <a:solidFill>
                  <a:srgbClr val="020C45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30630" cy="64832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  <a:p>
                <a:pPr algn="ctr">
                  <a:lnSpc>
                    <a:spcPts val="2660"/>
                  </a:lnSpc>
                </a:pPr>
                <a:r>
                  <a:rPr lang="en-US" sz="1900" b="true">
                    <a:solidFill>
                      <a:srgbClr val="020C45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RQ3</a:t>
                </a:r>
              </a:p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r>
                  <a:rPr lang="en-US" b="true" sz="1900">
                    <a:solidFill>
                      <a:srgbClr val="020C45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Zero-shot + Fine-tuning</a:t>
                </a:r>
              </a:p>
            </p:txBody>
          </p:sp>
        </p:grpSp>
        <p:sp>
          <p:nvSpPr>
            <p:cNvPr name="AutoShape 25" id="25"/>
            <p:cNvSpPr/>
            <p:nvPr/>
          </p:nvSpPr>
          <p:spPr>
            <a:xfrm>
              <a:off x="3510495" y="1895881"/>
              <a:ext cx="453640" cy="0"/>
            </a:xfrm>
            <a:prstGeom prst="line">
              <a:avLst/>
            </a:prstGeom>
            <a:ln cap="flat" w="50902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6" id="26"/>
            <p:cNvSpPr/>
            <p:nvPr/>
          </p:nvSpPr>
          <p:spPr>
            <a:xfrm>
              <a:off x="18004490" y="1895881"/>
              <a:ext cx="453640" cy="0"/>
            </a:xfrm>
            <a:prstGeom prst="line">
              <a:avLst/>
            </a:prstGeom>
            <a:ln cap="flat" w="50902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14356759" y="1895881"/>
              <a:ext cx="453640" cy="0"/>
            </a:xfrm>
            <a:prstGeom prst="line">
              <a:avLst/>
            </a:prstGeom>
            <a:ln cap="flat" w="50902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7107324" y="1895881"/>
              <a:ext cx="453640" cy="0"/>
            </a:xfrm>
            <a:prstGeom prst="line">
              <a:avLst/>
            </a:prstGeom>
            <a:ln cap="flat" w="50902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10759930" y="1895881"/>
              <a:ext cx="453640" cy="0"/>
            </a:xfrm>
            <a:prstGeom prst="line">
              <a:avLst/>
            </a:prstGeom>
            <a:ln cap="flat" w="50902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468247" y="500558"/>
              <a:ext cx="758884" cy="758884"/>
            </a:xfrm>
            <a:custGeom>
              <a:avLst/>
              <a:gdLst/>
              <a:ahLst/>
              <a:cxnLst/>
              <a:rect r="r" b="b" t="t" l="l"/>
              <a:pathLst>
                <a:path h="758884" w="758884">
                  <a:moveTo>
                    <a:pt x="0" y="0"/>
                  </a:moveTo>
                  <a:lnTo>
                    <a:pt x="758883" y="0"/>
                  </a:lnTo>
                  <a:lnTo>
                    <a:pt x="758883" y="758884"/>
                  </a:lnTo>
                  <a:lnTo>
                    <a:pt x="0" y="7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7858273" y="500558"/>
              <a:ext cx="758884" cy="758884"/>
            </a:xfrm>
            <a:custGeom>
              <a:avLst/>
              <a:gdLst/>
              <a:ahLst/>
              <a:cxnLst/>
              <a:rect r="r" b="b" t="t" l="l"/>
              <a:pathLst>
                <a:path h="758884" w="758884">
                  <a:moveTo>
                    <a:pt x="0" y="0"/>
                  </a:moveTo>
                  <a:lnTo>
                    <a:pt x="758883" y="0"/>
                  </a:lnTo>
                  <a:lnTo>
                    <a:pt x="758883" y="758884"/>
                  </a:lnTo>
                  <a:lnTo>
                    <a:pt x="0" y="7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4237515" y="500558"/>
              <a:ext cx="758884" cy="758884"/>
            </a:xfrm>
            <a:custGeom>
              <a:avLst/>
              <a:gdLst/>
              <a:ahLst/>
              <a:cxnLst/>
              <a:rect r="r" b="b" t="t" l="l"/>
              <a:pathLst>
                <a:path h="758884" w="758884">
                  <a:moveTo>
                    <a:pt x="0" y="0"/>
                  </a:moveTo>
                  <a:lnTo>
                    <a:pt x="758884" y="0"/>
                  </a:lnTo>
                  <a:lnTo>
                    <a:pt x="758884" y="758884"/>
                  </a:lnTo>
                  <a:lnTo>
                    <a:pt x="0" y="7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04529" y="500558"/>
              <a:ext cx="758884" cy="758884"/>
            </a:xfrm>
            <a:custGeom>
              <a:avLst/>
              <a:gdLst/>
              <a:ahLst/>
              <a:cxnLst/>
              <a:rect r="r" b="b" t="t" l="l"/>
              <a:pathLst>
                <a:path h="758884" w="758884">
                  <a:moveTo>
                    <a:pt x="0" y="0"/>
                  </a:moveTo>
                  <a:lnTo>
                    <a:pt x="758883" y="0"/>
                  </a:lnTo>
                  <a:lnTo>
                    <a:pt x="758883" y="758884"/>
                  </a:lnTo>
                  <a:lnTo>
                    <a:pt x="0" y="7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5116913" y="500558"/>
              <a:ext cx="758884" cy="758884"/>
            </a:xfrm>
            <a:custGeom>
              <a:avLst/>
              <a:gdLst/>
              <a:ahLst/>
              <a:cxnLst/>
              <a:rect r="r" b="b" t="t" l="l"/>
              <a:pathLst>
                <a:path h="758884" w="758884">
                  <a:moveTo>
                    <a:pt x="0" y="0"/>
                  </a:moveTo>
                  <a:lnTo>
                    <a:pt x="758884" y="0"/>
                  </a:lnTo>
                  <a:lnTo>
                    <a:pt x="758884" y="758884"/>
                  </a:lnTo>
                  <a:lnTo>
                    <a:pt x="0" y="7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8734716" y="500558"/>
              <a:ext cx="758884" cy="758884"/>
            </a:xfrm>
            <a:custGeom>
              <a:avLst/>
              <a:gdLst/>
              <a:ahLst/>
              <a:cxnLst/>
              <a:rect r="r" b="b" t="t" l="l"/>
              <a:pathLst>
                <a:path h="758884" w="758884">
                  <a:moveTo>
                    <a:pt x="0" y="0"/>
                  </a:moveTo>
                  <a:lnTo>
                    <a:pt x="758884" y="0"/>
                  </a:lnTo>
                  <a:lnTo>
                    <a:pt x="758884" y="758884"/>
                  </a:lnTo>
                  <a:lnTo>
                    <a:pt x="0" y="758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874054" y="596871"/>
              <a:ext cx="219832" cy="528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14"/>
                </a:lnSpc>
              </a:pPr>
              <a:r>
                <a:rPr lang="en-US" sz="2438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8991771" y="555450"/>
              <a:ext cx="265644" cy="528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14"/>
                </a:lnSpc>
              </a:pPr>
              <a:r>
                <a:rPr lang="en-US" sz="2438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6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5384784" y="555450"/>
              <a:ext cx="244011" cy="528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14"/>
                </a:lnSpc>
              </a:pPr>
              <a:r>
                <a:rPr lang="en-US" sz="2438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5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1712306" y="555450"/>
              <a:ext cx="249896" cy="528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14"/>
                </a:lnSpc>
              </a:pPr>
              <a:r>
                <a:rPr lang="en-US" sz="2438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8128370" y="596871"/>
              <a:ext cx="239557" cy="528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14"/>
                </a:lnSpc>
              </a:pPr>
              <a:r>
                <a:rPr lang="en-US" sz="2438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4503621" y="555450"/>
              <a:ext cx="226672" cy="528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14"/>
                </a:lnSpc>
              </a:pPr>
              <a:r>
                <a:rPr lang="en-US" sz="2438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3641553" y="184150"/>
            <a:ext cx="11004893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7A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 &amp; Experimental Setup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07484" y="5143500"/>
            <a:ext cx="5205592" cy="4340971"/>
            <a:chOff x="0" y="0"/>
            <a:chExt cx="1371020" cy="114330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71020" cy="1143301"/>
            </a:xfrm>
            <a:custGeom>
              <a:avLst/>
              <a:gdLst/>
              <a:ahLst/>
              <a:cxnLst/>
              <a:rect r="r" b="b" t="t" l="l"/>
              <a:pathLst>
                <a:path h="1143301" w="1371020">
                  <a:moveTo>
                    <a:pt x="25283" y="0"/>
                  </a:moveTo>
                  <a:lnTo>
                    <a:pt x="1345737" y="0"/>
                  </a:lnTo>
                  <a:cubicBezTo>
                    <a:pt x="1359701" y="0"/>
                    <a:pt x="1371020" y="11320"/>
                    <a:pt x="1371020" y="25283"/>
                  </a:cubicBezTo>
                  <a:lnTo>
                    <a:pt x="1371020" y="1118018"/>
                  </a:lnTo>
                  <a:cubicBezTo>
                    <a:pt x="1371020" y="1131981"/>
                    <a:pt x="1359701" y="1143301"/>
                    <a:pt x="1345737" y="1143301"/>
                  </a:cubicBezTo>
                  <a:lnTo>
                    <a:pt x="25283" y="1143301"/>
                  </a:lnTo>
                  <a:cubicBezTo>
                    <a:pt x="11320" y="1143301"/>
                    <a:pt x="0" y="1131981"/>
                    <a:pt x="0" y="1118018"/>
                  </a:cubicBezTo>
                  <a:lnTo>
                    <a:pt x="0" y="25283"/>
                  </a:lnTo>
                  <a:cubicBezTo>
                    <a:pt x="0" y="11320"/>
                    <a:pt x="11320" y="0"/>
                    <a:pt x="25283" y="0"/>
                  </a:cubicBezTo>
                  <a:close/>
                </a:path>
              </a:pathLst>
            </a:custGeom>
            <a:solidFill>
              <a:srgbClr val="E0DED2"/>
            </a:solidFill>
            <a:ln w="38100" cap="sq">
              <a:solidFill>
                <a:srgbClr val="7A0000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371020" cy="1181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858092" y="5143500"/>
            <a:ext cx="5205592" cy="4340971"/>
            <a:chOff x="0" y="0"/>
            <a:chExt cx="1371020" cy="114330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71020" cy="1143301"/>
            </a:xfrm>
            <a:custGeom>
              <a:avLst/>
              <a:gdLst/>
              <a:ahLst/>
              <a:cxnLst/>
              <a:rect r="r" b="b" t="t" l="l"/>
              <a:pathLst>
                <a:path h="1143301" w="1371020">
                  <a:moveTo>
                    <a:pt x="25283" y="0"/>
                  </a:moveTo>
                  <a:lnTo>
                    <a:pt x="1345737" y="0"/>
                  </a:lnTo>
                  <a:cubicBezTo>
                    <a:pt x="1359701" y="0"/>
                    <a:pt x="1371020" y="11320"/>
                    <a:pt x="1371020" y="25283"/>
                  </a:cubicBezTo>
                  <a:lnTo>
                    <a:pt x="1371020" y="1118018"/>
                  </a:lnTo>
                  <a:cubicBezTo>
                    <a:pt x="1371020" y="1131981"/>
                    <a:pt x="1359701" y="1143301"/>
                    <a:pt x="1345737" y="1143301"/>
                  </a:cubicBezTo>
                  <a:lnTo>
                    <a:pt x="25283" y="1143301"/>
                  </a:lnTo>
                  <a:cubicBezTo>
                    <a:pt x="11320" y="1143301"/>
                    <a:pt x="0" y="1131981"/>
                    <a:pt x="0" y="1118018"/>
                  </a:cubicBezTo>
                  <a:lnTo>
                    <a:pt x="0" y="25283"/>
                  </a:lnTo>
                  <a:cubicBezTo>
                    <a:pt x="0" y="11320"/>
                    <a:pt x="11320" y="0"/>
                    <a:pt x="25283" y="0"/>
                  </a:cubicBezTo>
                  <a:close/>
                </a:path>
              </a:pathLst>
            </a:custGeom>
            <a:solidFill>
              <a:srgbClr val="E7DCE7"/>
            </a:solidFill>
            <a:ln w="38100" cap="sq">
              <a:solidFill>
                <a:srgbClr val="7A0000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371020" cy="1181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520845" y="5143500"/>
            <a:ext cx="5205592" cy="4340971"/>
            <a:chOff x="0" y="0"/>
            <a:chExt cx="1371020" cy="114330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71020" cy="1143301"/>
            </a:xfrm>
            <a:custGeom>
              <a:avLst/>
              <a:gdLst/>
              <a:ahLst/>
              <a:cxnLst/>
              <a:rect r="r" b="b" t="t" l="l"/>
              <a:pathLst>
                <a:path h="1143301" w="1371020">
                  <a:moveTo>
                    <a:pt x="25283" y="0"/>
                  </a:moveTo>
                  <a:lnTo>
                    <a:pt x="1345737" y="0"/>
                  </a:lnTo>
                  <a:cubicBezTo>
                    <a:pt x="1359701" y="0"/>
                    <a:pt x="1371020" y="11320"/>
                    <a:pt x="1371020" y="25283"/>
                  </a:cubicBezTo>
                  <a:lnTo>
                    <a:pt x="1371020" y="1118018"/>
                  </a:lnTo>
                  <a:cubicBezTo>
                    <a:pt x="1371020" y="1131981"/>
                    <a:pt x="1359701" y="1143301"/>
                    <a:pt x="1345737" y="1143301"/>
                  </a:cubicBezTo>
                  <a:lnTo>
                    <a:pt x="25283" y="1143301"/>
                  </a:lnTo>
                  <a:cubicBezTo>
                    <a:pt x="11320" y="1143301"/>
                    <a:pt x="0" y="1131981"/>
                    <a:pt x="0" y="1118018"/>
                  </a:cubicBezTo>
                  <a:lnTo>
                    <a:pt x="0" y="25283"/>
                  </a:lnTo>
                  <a:cubicBezTo>
                    <a:pt x="0" y="11320"/>
                    <a:pt x="11320" y="0"/>
                    <a:pt x="25283" y="0"/>
                  </a:cubicBezTo>
                  <a:close/>
                </a:path>
              </a:pathLst>
            </a:custGeom>
            <a:solidFill>
              <a:srgbClr val="E3E4E9"/>
            </a:solidFill>
            <a:ln w="38100" cap="sq">
              <a:solidFill>
                <a:srgbClr val="7A0000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371020" cy="1181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260006" y="5296493"/>
            <a:ext cx="1787976" cy="62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1"/>
              </a:lnSpc>
            </a:pPr>
            <a:r>
              <a:rPr lang="en-US" sz="369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44203" y="6812273"/>
            <a:ext cx="4132154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CIC-DDoS2019 (Kaggle) — LD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AP, MSSQL, NetBIOS, Syn, UDP,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UDP-Lag (known) + DNS (held-out, unseen)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297255" y="5296493"/>
            <a:ext cx="2971723" cy="62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1"/>
              </a:lnSpc>
            </a:pPr>
            <a:r>
              <a:rPr lang="en-US" sz="369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Environment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909921" y="5296493"/>
            <a:ext cx="2841842" cy="626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1"/>
              </a:lnSpc>
            </a:pPr>
            <a:r>
              <a:rPr lang="en-US" sz="369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Settings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228891" y="6774173"/>
            <a:ext cx="4463994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Google Colab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Python 3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scikit-learn, XGBoost, LightGBM, pandas, psutil, matplotlib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806634" y="6812273"/>
            <a:ext cx="4726231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random_state=42 · 200 </a:t>
            </a: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estimators (DT/RF/XGBoost/LightGBM)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77→40→25→15 features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10%/20% fine-tuning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7767068" y="9611497"/>
            <a:ext cx="23062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-4733" t="0" r="-4733" b="-598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69811" y="184150"/>
            <a:ext cx="874837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7A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 Implementation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7484" y="1560812"/>
            <a:ext cx="10961909" cy="60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0"/>
              </a:lnSpc>
            </a:pPr>
            <a:r>
              <a:rPr lang="en-US" sz="3550" b="true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 Repro</a:t>
            </a:r>
            <a:r>
              <a:rPr lang="en-US" b="true" sz="3550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ducible Notebook, Three Experiments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07484" y="2785021"/>
            <a:ext cx="16477872" cy="3141758"/>
            <a:chOff x="0" y="0"/>
            <a:chExt cx="21970496" cy="418901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940790" cy="4189011"/>
              <a:chOff x="0" y="0"/>
              <a:chExt cx="1371020" cy="82745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371020" cy="827459"/>
              </a:xfrm>
              <a:custGeom>
                <a:avLst/>
                <a:gdLst/>
                <a:ahLst/>
                <a:cxnLst/>
                <a:rect r="r" b="b" t="t" l="l"/>
                <a:pathLst>
                  <a:path h="827459" w="1371020">
                    <a:moveTo>
                      <a:pt x="25283" y="0"/>
                    </a:moveTo>
                    <a:lnTo>
                      <a:pt x="1345737" y="0"/>
                    </a:lnTo>
                    <a:cubicBezTo>
                      <a:pt x="1359701" y="0"/>
                      <a:pt x="1371020" y="11320"/>
                      <a:pt x="1371020" y="25283"/>
                    </a:cubicBezTo>
                    <a:lnTo>
                      <a:pt x="1371020" y="802176"/>
                    </a:lnTo>
                    <a:cubicBezTo>
                      <a:pt x="1371020" y="816139"/>
                      <a:pt x="1359701" y="827459"/>
                      <a:pt x="1345737" y="827459"/>
                    </a:cubicBezTo>
                    <a:lnTo>
                      <a:pt x="25283" y="827459"/>
                    </a:lnTo>
                    <a:cubicBezTo>
                      <a:pt x="11320" y="827459"/>
                      <a:pt x="0" y="816139"/>
                      <a:pt x="0" y="802176"/>
                    </a:cubicBezTo>
                    <a:lnTo>
                      <a:pt x="0" y="25283"/>
                    </a:lnTo>
                    <a:cubicBezTo>
                      <a:pt x="0" y="11320"/>
                      <a:pt x="11320" y="0"/>
                      <a:pt x="25283" y="0"/>
                    </a:cubicBezTo>
                    <a:close/>
                  </a:path>
                </a:pathLst>
              </a:custGeom>
              <a:solidFill>
                <a:srgbClr val="E1E7D9"/>
              </a:solidFill>
              <a:ln w="38100" cap="sq">
                <a:solidFill>
                  <a:srgbClr val="7A0000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371020" cy="8655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517417" y="0"/>
              <a:ext cx="6940790" cy="4189011"/>
              <a:chOff x="0" y="0"/>
              <a:chExt cx="1371020" cy="82745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71020" cy="827459"/>
              </a:xfrm>
              <a:custGeom>
                <a:avLst/>
                <a:gdLst/>
                <a:ahLst/>
                <a:cxnLst/>
                <a:rect r="r" b="b" t="t" l="l"/>
                <a:pathLst>
                  <a:path h="827459" w="1371020">
                    <a:moveTo>
                      <a:pt x="25283" y="0"/>
                    </a:moveTo>
                    <a:lnTo>
                      <a:pt x="1345737" y="0"/>
                    </a:lnTo>
                    <a:cubicBezTo>
                      <a:pt x="1359701" y="0"/>
                      <a:pt x="1371020" y="11320"/>
                      <a:pt x="1371020" y="25283"/>
                    </a:cubicBezTo>
                    <a:lnTo>
                      <a:pt x="1371020" y="802176"/>
                    </a:lnTo>
                    <a:cubicBezTo>
                      <a:pt x="1371020" y="816139"/>
                      <a:pt x="1359701" y="827459"/>
                      <a:pt x="1345737" y="827459"/>
                    </a:cubicBezTo>
                    <a:lnTo>
                      <a:pt x="25283" y="827459"/>
                    </a:lnTo>
                    <a:cubicBezTo>
                      <a:pt x="11320" y="827459"/>
                      <a:pt x="0" y="816139"/>
                      <a:pt x="0" y="802176"/>
                    </a:cubicBezTo>
                    <a:lnTo>
                      <a:pt x="0" y="25283"/>
                    </a:lnTo>
                    <a:cubicBezTo>
                      <a:pt x="0" y="11320"/>
                      <a:pt x="11320" y="0"/>
                      <a:pt x="25283" y="0"/>
                    </a:cubicBezTo>
                    <a:close/>
                  </a:path>
                </a:pathLst>
              </a:custGeom>
              <a:solidFill>
                <a:srgbClr val="DBE8F5"/>
              </a:solidFill>
              <a:ln w="38100" cap="sq">
                <a:solidFill>
                  <a:srgbClr val="7A000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371020" cy="8655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5029706" y="0"/>
              <a:ext cx="6940790" cy="4189011"/>
              <a:chOff x="0" y="0"/>
              <a:chExt cx="1371020" cy="82745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71020" cy="827459"/>
              </a:xfrm>
              <a:custGeom>
                <a:avLst/>
                <a:gdLst/>
                <a:ahLst/>
                <a:cxnLst/>
                <a:rect r="r" b="b" t="t" l="l"/>
                <a:pathLst>
                  <a:path h="827459" w="1371020">
                    <a:moveTo>
                      <a:pt x="25283" y="0"/>
                    </a:moveTo>
                    <a:lnTo>
                      <a:pt x="1345737" y="0"/>
                    </a:lnTo>
                    <a:cubicBezTo>
                      <a:pt x="1359701" y="0"/>
                      <a:pt x="1371020" y="11320"/>
                      <a:pt x="1371020" y="25283"/>
                    </a:cubicBezTo>
                    <a:lnTo>
                      <a:pt x="1371020" y="802176"/>
                    </a:lnTo>
                    <a:cubicBezTo>
                      <a:pt x="1371020" y="816139"/>
                      <a:pt x="1359701" y="827459"/>
                      <a:pt x="1345737" y="827459"/>
                    </a:cubicBezTo>
                    <a:lnTo>
                      <a:pt x="25283" y="827459"/>
                    </a:lnTo>
                    <a:cubicBezTo>
                      <a:pt x="11320" y="827459"/>
                      <a:pt x="0" y="816139"/>
                      <a:pt x="0" y="802176"/>
                    </a:cubicBezTo>
                    <a:lnTo>
                      <a:pt x="0" y="25283"/>
                    </a:lnTo>
                    <a:cubicBezTo>
                      <a:pt x="0" y="11320"/>
                      <a:pt x="11320" y="0"/>
                      <a:pt x="25283" y="0"/>
                    </a:cubicBezTo>
                    <a:close/>
                  </a:path>
                </a:pathLst>
              </a:custGeom>
              <a:solidFill>
                <a:srgbClr val="F7D7D7"/>
              </a:solidFill>
              <a:ln w="38100" cap="sq">
                <a:solidFill>
                  <a:srgbClr val="7A00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371020" cy="8655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444161" y="307572"/>
              <a:ext cx="4052468" cy="5785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6"/>
                </a:lnSpc>
              </a:pPr>
              <a:r>
                <a:rPr lang="en-US" sz="2625" b="true">
                  <a:solidFill>
                    <a:srgbClr val="020C4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</a:t>
              </a:r>
              <a:r>
                <a:rPr lang="en-US" b="true" sz="2625">
                  <a:solidFill>
                    <a:srgbClr val="020C4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ingle Notebook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6302551" y="307572"/>
              <a:ext cx="4395101" cy="5785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6"/>
                </a:lnSpc>
              </a:pPr>
              <a:r>
                <a:rPr lang="en-US" sz="2625" b="true">
                  <a:solidFill>
                    <a:srgbClr val="020C4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</a:t>
              </a:r>
              <a:r>
                <a:rPr lang="en-US" b="true" sz="2625">
                  <a:solidFill>
                    <a:srgbClr val="020C4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ive Demonstration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8959014" y="307572"/>
              <a:ext cx="4052468" cy="5785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76"/>
                </a:lnSpc>
              </a:pPr>
              <a:r>
                <a:rPr lang="en-US" sz="2625" b="true">
                  <a:solidFill>
                    <a:srgbClr val="020C4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Shar</a:t>
              </a:r>
              <a:r>
                <a:rPr lang="en-US" b="true" sz="2625">
                  <a:solidFill>
                    <a:srgbClr val="020C4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ed Artefacts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187210" y="1686224"/>
              <a:ext cx="456637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020C4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Sectione</a:t>
              </a:r>
              <a:r>
                <a:rPr lang="en-US" b="true" sz="2100">
                  <a:solidFill>
                    <a:srgbClr val="020C4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 into Setup → Cleaning → RQ1 → RQ2 → RQ3, so every reported number traces to one cell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8704626" y="1686224"/>
              <a:ext cx="456637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020C4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RQ2</a:t>
              </a:r>
              <a:r>
                <a:rPr lang="en-US" b="true" sz="2100">
                  <a:solidFill>
                    <a:srgbClr val="020C4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reuses RQ1's fitted scaler &amp; encoder; RQ3 fits its own since it's a disjoint binary task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042358" y="4022128"/>
            <a:ext cx="3660337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2100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ata loading, Data cleaning, model training, and evaluation end-to-end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07484" y="6526854"/>
            <a:ext cx="16473529" cy="1972233"/>
            <a:chOff x="0" y="0"/>
            <a:chExt cx="4338707" cy="5194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38707" cy="519436"/>
            </a:xfrm>
            <a:custGeom>
              <a:avLst/>
              <a:gdLst/>
              <a:ahLst/>
              <a:cxnLst/>
              <a:rect r="r" b="b" t="t" l="l"/>
              <a:pathLst>
                <a:path h="519436" w="4338707">
                  <a:moveTo>
                    <a:pt x="7989" y="0"/>
                  </a:moveTo>
                  <a:lnTo>
                    <a:pt x="4330718" y="0"/>
                  </a:lnTo>
                  <a:cubicBezTo>
                    <a:pt x="4335130" y="0"/>
                    <a:pt x="4338707" y="3577"/>
                    <a:pt x="4338707" y="7989"/>
                  </a:cubicBezTo>
                  <a:lnTo>
                    <a:pt x="4338707" y="511446"/>
                  </a:lnTo>
                  <a:cubicBezTo>
                    <a:pt x="4338707" y="515859"/>
                    <a:pt x="4335130" y="519436"/>
                    <a:pt x="4330718" y="519436"/>
                  </a:cubicBezTo>
                  <a:lnTo>
                    <a:pt x="7989" y="519436"/>
                  </a:lnTo>
                  <a:cubicBezTo>
                    <a:pt x="3577" y="519436"/>
                    <a:pt x="0" y="515859"/>
                    <a:pt x="0" y="511446"/>
                  </a:cubicBezTo>
                  <a:lnTo>
                    <a:pt x="0" y="7989"/>
                  </a:lnTo>
                  <a:cubicBezTo>
                    <a:pt x="0" y="3577"/>
                    <a:pt x="3577" y="0"/>
                    <a:pt x="7989" y="0"/>
                  </a:cubicBezTo>
                  <a:close/>
                </a:path>
              </a:pathLst>
            </a:custGeom>
            <a:solidFill>
              <a:srgbClr val="B4B4B4"/>
            </a:solidFill>
            <a:ln w="38100" cap="sq">
              <a:solidFill>
                <a:srgbClr val="7A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338707" cy="557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400926" y="6876700"/>
            <a:ext cx="15486149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 b="true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Fine-tuning = full retrain, not incremental: each stage retrains the Decision Tree from scratch on the combined dataset (scikit-learn has no partial-fit for it) </a:t>
            </a:r>
            <a:r>
              <a:rPr lang="en-US" sz="2400" b="true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— still practical since only 10–20% new data was needed to recover performance.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88479" y="8819714"/>
            <a:ext cx="4732496" cy="40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7"/>
              </a:lnSpc>
            </a:pPr>
            <a:r>
              <a:rPr lang="en-US" b="true" sz="2369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3" tooltip="https://colab.research.google.com/drive/1dlQKGzT-TS7WPIKvPVGdUtu_a5TlevV5?usp=sharing"/>
              </a:rPr>
              <a:t>Switch to Colab — live execution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792309" y="9611497"/>
            <a:ext cx="18014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-4733" t="0" r="-4733" b="-598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3472" y="2076561"/>
            <a:ext cx="9390675" cy="5921770"/>
          </a:xfrm>
          <a:custGeom>
            <a:avLst/>
            <a:gdLst/>
            <a:ahLst/>
            <a:cxnLst/>
            <a:rect r="r" b="b" t="t" l="l"/>
            <a:pathLst>
              <a:path h="5921770" w="9390675">
                <a:moveTo>
                  <a:pt x="0" y="0"/>
                </a:moveTo>
                <a:lnTo>
                  <a:pt x="9390675" y="0"/>
                </a:lnTo>
                <a:lnTo>
                  <a:pt x="9390675" y="5921770"/>
                </a:lnTo>
                <a:lnTo>
                  <a:pt x="0" y="59217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4607" y="8635556"/>
            <a:ext cx="9132504" cy="1446262"/>
          </a:xfrm>
          <a:custGeom>
            <a:avLst/>
            <a:gdLst/>
            <a:ahLst/>
            <a:cxnLst/>
            <a:rect r="r" b="b" t="t" l="l"/>
            <a:pathLst>
              <a:path h="1446262" w="9132504">
                <a:moveTo>
                  <a:pt x="0" y="0"/>
                </a:moveTo>
                <a:lnTo>
                  <a:pt x="9132503" y="0"/>
                </a:lnTo>
                <a:lnTo>
                  <a:pt x="9132503" y="1446262"/>
                </a:lnTo>
                <a:lnTo>
                  <a:pt x="0" y="1446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048" t="0" r="-704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63011" y="2299979"/>
            <a:ext cx="7440830" cy="2843521"/>
          </a:xfrm>
          <a:custGeom>
            <a:avLst/>
            <a:gdLst/>
            <a:ahLst/>
            <a:cxnLst/>
            <a:rect r="r" b="b" t="t" l="l"/>
            <a:pathLst>
              <a:path h="2843521" w="7440830">
                <a:moveTo>
                  <a:pt x="0" y="0"/>
                </a:moveTo>
                <a:lnTo>
                  <a:pt x="7440831" y="0"/>
                </a:lnTo>
                <a:lnTo>
                  <a:pt x="7440831" y="2843521"/>
                </a:lnTo>
                <a:lnTo>
                  <a:pt x="0" y="28435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67183" y="5457320"/>
            <a:ext cx="7466969" cy="4646171"/>
          </a:xfrm>
          <a:custGeom>
            <a:avLst/>
            <a:gdLst/>
            <a:ahLst/>
            <a:cxnLst/>
            <a:rect r="r" b="b" t="t" l="l"/>
            <a:pathLst>
              <a:path h="4646171" w="7466969">
                <a:moveTo>
                  <a:pt x="0" y="0"/>
                </a:moveTo>
                <a:lnTo>
                  <a:pt x="7466969" y="0"/>
                </a:lnTo>
                <a:lnTo>
                  <a:pt x="7466969" y="4646171"/>
                </a:lnTo>
                <a:lnTo>
                  <a:pt x="0" y="46461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54210" b="-881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69811" y="193675"/>
            <a:ext cx="8748379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>
                <a:solidFill>
                  <a:srgbClr val="7A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 &amp; Analysis — RQ1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77317" y="1186352"/>
            <a:ext cx="13333367" cy="123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0"/>
              </a:lnSpc>
            </a:pPr>
            <a:r>
              <a:rPr lang="en-US" sz="3550" b="true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Baseline Compar</a:t>
            </a:r>
            <a:r>
              <a:rPr lang="en-US" b="true" sz="3550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ison: Four Classifiers, Full Feature Set</a:t>
            </a:r>
          </a:p>
          <a:p>
            <a:pPr algn="ctr">
              <a:lnSpc>
                <a:spcPts val="497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00692" y="8051598"/>
            <a:ext cx="8651776" cy="32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4"/>
              </a:lnSpc>
              <a:spcBef>
                <a:spcPct val="0"/>
              </a:spcBef>
            </a:pPr>
            <a:r>
              <a:rPr lang="en-US" b="true" sz="18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Fig. RQ1 — (a) accuracy, (b) F1, (c) training time, (d) memory across models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5354" y="9087176"/>
            <a:ext cx="1316732" cy="495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4"/>
              </a:lnSpc>
              <a:spcBef>
                <a:spcPct val="0"/>
              </a:spcBef>
            </a:pPr>
            <a:r>
              <a:rPr lang="en-US" b="true" sz="29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16–20×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46456" y="9064776"/>
            <a:ext cx="6756032" cy="65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4"/>
              </a:lnSpc>
              <a:spcBef>
                <a:spcPct val="0"/>
              </a:spcBef>
            </a:pPr>
            <a:r>
              <a:rPr lang="en-US" b="true" sz="18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faster training for Decision Tree vs. Random Forest / XGBoost — for 0.3–1.0 points less accuracy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39198" y="6693318"/>
            <a:ext cx="7094954" cy="65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9393" indent="-204697" lvl="1">
              <a:lnSpc>
                <a:spcPts val="2654"/>
              </a:lnSpc>
              <a:buFont typeface="Arial"/>
              <a:buChar char="•"/>
            </a:pPr>
            <a:r>
              <a:rPr lang="en-US" b="true" sz="18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DT / RF / XGBoost cluster around 0.74 accuracy; DT is fastest with the lowest false-positive rate.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39198" y="7742305"/>
            <a:ext cx="6841248" cy="65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9393" indent="-204697" lvl="1">
              <a:lnSpc>
                <a:spcPts val="2654"/>
              </a:lnSpc>
              <a:buFont typeface="Arial"/>
              <a:buChar char="•"/>
            </a:pPr>
            <a:r>
              <a:rPr lang="en-US" b="true" sz="18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LightGBM underperforms sharply (0.18) under default settings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773497" y="9611497"/>
            <a:ext cx="21776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-4733" t="0" r="-4733" b="-598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1650" y="1889046"/>
            <a:ext cx="12118797" cy="4902856"/>
          </a:xfrm>
          <a:custGeom>
            <a:avLst/>
            <a:gdLst/>
            <a:ahLst/>
            <a:cxnLst/>
            <a:rect r="r" b="b" t="t" l="l"/>
            <a:pathLst>
              <a:path h="4902856" w="12118797">
                <a:moveTo>
                  <a:pt x="0" y="0"/>
                </a:moveTo>
                <a:lnTo>
                  <a:pt x="12118798" y="0"/>
                </a:lnTo>
                <a:lnTo>
                  <a:pt x="12118798" y="4902856"/>
                </a:lnTo>
                <a:lnTo>
                  <a:pt x="0" y="4902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3261" y="7172902"/>
            <a:ext cx="10442393" cy="2961842"/>
          </a:xfrm>
          <a:custGeom>
            <a:avLst/>
            <a:gdLst/>
            <a:ahLst/>
            <a:cxnLst/>
            <a:rect r="r" b="b" t="t" l="l"/>
            <a:pathLst>
              <a:path h="2961842" w="10442393">
                <a:moveTo>
                  <a:pt x="0" y="0"/>
                </a:moveTo>
                <a:lnTo>
                  <a:pt x="10442392" y="0"/>
                </a:lnTo>
                <a:lnTo>
                  <a:pt x="10442392" y="2961842"/>
                </a:lnTo>
                <a:lnTo>
                  <a:pt x="0" y="29618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61257" y="2046956"/>
            <a:ext cx="5335524" cy="8088408"/>
          </a:xfrm>
          <a:custGeom>
            <a:avLst/>
            <a:gdLst/>
            <a:ahLst/>
            <a:cxnLst/>
            <a:rect r="r" b="b" t="t" l="l"/>
            <a:pathLst>
              <a:path h="8088408" w="5335524">
                <a:moveTo>
                  <a:pt x="0" y="0"/>
                </a:moveTo>
                <a:lnTo>
                  <a:pt x="5335523" y="0"/>
                </a:lnTo>
                <a:lnTo>
                  <a:pt x="5335523" y="8088407"/>
                </a:lnTo>
                <a:lnTo>
                  <a:pt x="0" y="80884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500" t="0" r="-25602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769811" y="123126"/>
            <a:ext cx="8748379" cy="146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>
                <a:solidFill>
                  <a:srgbClr val="7A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 &amp; Analysis — RQ2</a:t>
            </a:r>
          </a:p>
          <a:p>
            <a:pPr algn="ctr">
              <a:lnSpc>
                <a:spcPts val="55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663045" y="973989"/>
            <a:ext cx="10961909" cy="123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0"/>
              </a:lnSpc>
            </a:pPr>
            <a:r>
              <a:rPr lang="en-US" sz="3550" b="true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Three-Stag</a:t>
            </a:r>
            <a:r>
              <a:rPr lang="en-US" b="true" sz="3550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Feature Selection: 77 → 15 Features</a:t>
            </a:r>
          </a:p>
          <a:p>
            <a:pPr algn="ctr">
              <a:lnSpc>
                <a:spcPts val="497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322021" y="2302916"/>
            <a:ext cx="4013994" cy="36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b="true" sz="21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Filter → Wrapper → Embedded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91400" y="2875782"/>
            <a:ext cx="5075238" cy="339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  <a:spcBef>
                <a:spcPct val="0"/>
              </a:spcBef>
            </a:pPr>
            <a:r>
              <a:rPr lang="en-US" sz="19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77 → 40 → 25 → 15 features (81% reduction)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47694" y="3702648"/>
            <a:ext cx="1740991" cy="36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162" indent="-237081" lvl="1">
              <a:lnSpc>
                <a:spcPts val="3074"/>
              </a:lnSpc>
              <a:buFont typeface="Arial"/>
              <a:buChar char="•"/>
            </a:pPr>
            <a:r>
              <a:rPr lang="en-US" b="true" sz="21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Accuracy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14381" y="4159768"/>
            <a:ext cx="4829274" cy="32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4"/>
              </a:lnSpc>
              <a:spcBef>
                <a:spcPct val="0"/>
              </a:spcBef>
            </a:pPr>
            <a:r>
              <a:rPr lang="en-US" sz="18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Essentially unchanged for DT/RF/XGBoost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47694" y="4780184"/>
            <a:ext cx="3224907" cy="36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162" indent="-237081" lvl="1">
              <a:lnSpc>
                <a:spcPts val="3074"/>
              </a:lnSpc>
              <a:buFont typeface="Arial"/>
              <a:buChar char="•"/>
            </a:pPr>
            <a:r>
              <a:rPr lang="en-US" b="true" sz="21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 Forest time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28371" y="5353050"/>
            <a:ext cx="2344936" cy="32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4"/>
              </a:lnSpc>
              <a:spcBef>
                <a:spcPct val="0"/>
              </a:spcBef>
            </a:pPr>
            <a:r>
              <a:rPr lang="en-US" sz="18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49.6s → 19.0s (–62%)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61257" y="5915838"/>
            <a:ext cx="2341265" cy="36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162" indent="-237081" lvl="1">
              <a:lnSpc>
                <a:spcPts val="3074"/>
              </a:lnSpc>
              <a:buFont typeface="Arial"/>
              <a:buChar char="•"/>
            </a:pPr>
            <a:r>
              <a:rPr lang="en-US" b="true" sz="21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XGBoost time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28371" y="6468590"/>
            <a:ext cx="2288877" cy="32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4"/>
              </a:lnSpc>
              <a:spcBef>
                <a:spcPct val="0"/>
              </a:spcBef>
            </a:pPr>
            <a:r>
              <a:rPr lang="en-US" sz="18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61.1s → 21.7s (–64%)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61257" y="7030027"/>
            <a:ext cx="1823343" cy="36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162" indent="-237081" lvl="1">
              <a:lnSpc>
                <a:spcPts val="3074"/>
              </a:lnSpc>
              <a:buFont typeface="Arial"/>
              <a:buChar char="•"/>
            </a:pPr>
            <a:r>
              <a:rPr lang="en-US" b="true" sz="21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LightGBM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29227" y="7602893"/>
            <a:ext cx="2661841" cy="32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4"/>
              </a:lnSpc>
              <a:spcBef>
                <a:spcPct val="0"/>
              </a:spcBef>
            </a:pPr>
            <a:r>
              <a:rPr lang="en-US" sz="18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0.180 → 0.574 accuracy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25855" y="8290506"/>
            <a:ext cx="2130425" cy="36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b="true" sz="21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it matters?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44524" y="8822920"/>
            <a:ext cx="4952256" cy="990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4"/>
              </a:lnSpc>
              <a:spcBef>
                <a:spcPct val="0"/>
              </a:spcBef>
            </a:pPr>
            <a:r>
              <a:rPr lang="en-US" sz="18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Packet/window size fingerprints scripted flood tools — real users show natural variability, floods don't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767603" y="9611497"/>
            <a:ext cx="22955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-6135" t="0" r="-3331" b="-598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6770" y="2046956"/>
            <a:ext cx="12118797" cy="3397690"/>
          </a:xfrm>
          <a:custGeom>
            <a:avLst/>
            <a:gdLst/>
            <a:ahLst/>
            <a:cxnLst/>
            <a:rect r="r" b="b" t="t" l="l"/>
            <a:pathLst>
              <a:path h="3397690" w="12118797">
                <a:moveTo>
                  <a:pt x="0" y="0"/>
                </a:moveTo>
                <a:lnTo>
                  <a:pt x="12118797" y="0"/>
                </a:lnTo>
                <a:lnTo>
                  <a:pt x="12118797" y="3397690"/>
                </a:lnTo>
                <a:lnTo>
                  <a:pt x="0" y="3397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8610" y="6498519"/>
            <a:ext cx="11798708" cy="3280738"/>
          </a:xfrm>
          <a:custGeom>
            <a:avLst/>
            <a:gdLst/>
            <a:ahLst/>
            <a:cxnLst/>
            <a:rect r="r" b="b" t="t" l="l"/>
            <a:pathLst>
              <a:path h="3280738" w="11798708">
                <a:moveTo>
                  <a:pt x="0" y="0"/>
                </a:moveTo>
                <a:lnTo>
                  <a:pt x="11798708" y="0"/>
                </a:lnTo>
                <a:lnTo>
                  <a:pt x="11798708" y="3280739"/>
                </a:lnTo>
                <a:lnTo>
                  <a:pt x="0" y="32807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712" b="-1132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957104" y="2267057"/>
            <a:ext cx="5160437" cy="1925869"/>
          </a:xfrm>
          <a:custGeom>
            <a:avLst/>
            <a:gdLst/>
            <a:ahLst/>
            <a:cxnLst/>
            <a:rect r="r" b="b" t="t" l="l"/>
            <a:pathLst>
              <a:path h="1925869" w="5160437">
                <a:moveTo>
                  <a:pt x="0" y="0"/>
                </a:moveTo>
                <a:lnTo>
                  <a:pt x="5160436" y="0"/>
                </a:lnTo>
                <a:lnTo>
                  <a:pt x="5160436" y="1925869"/>
                </a:lnTo>
                <a:lnTo>
                  <a:pt x="0" y="19258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57104" y="4606190"/>
            <a:ext cx="5160437" cy="5062457"/>
          </a:xfrm>
          <a:custGeom>
            <a:avLst/>
            <a:gdLst/>
            <a:ahLst/>
            <a:cxnLst/>
            <a:rect r="r" b="b" t="t" l="l"/>
            <a:pathLst>
              <a:path h="5062457" w="5160437">
                <a:moveTo>
                  <a:pt x="0" y="0"/>
                </a:moveTo>
                <a:lnTo>
                  <a:pt x="5160436" y="0"/>
                </a:lnTo>
                <a:lnTo>
                  <a:pt x="5160436" y="5062457"/>
                </a:lnTo>
                <a:lnTo>
                  <a:pt x="0" y="50624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63005" b="-1197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69811" y="123126"/>
            <a:ext cx="8748379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>
                <a:solidFill>
                  <a:srgbClr val="7A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 &amp; Analysis — RQ3</a:t>
            </a:r>
          </a:p>
          <a:p>
            <a:pPr algn="ctr">
              <a:lnSpc>
                <a:spcPts val="62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822082" y="962025"/>
            <a:ext cx="10961909" cy="123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0"/>
              </a:lnSpc>
            </a:pPr>
            <a:r>
              <a:rPr lang="en-US" sz="3550" b="true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Generalis</a:t>
            </a:r>
            <a:r>
              <a:rPr lang="en-US" b="true" sz="3550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ation to an Unseen Attack &amp; Fine-Tuning</a:t>
            </a:r>
          </a:p>
          <a:p>
            <a:pPr algn="ctr">
              <a:lnSpc>
                <a:spcPts val="497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615773"/>
            <a:ext cx="11478618" cy="339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  <a:spcBef>
                <a:spcPct val="0"/>
              </a:spcBef>
            </a:pPr>
            <a:r>
              <a:rPr lang="en-US" b="true" sz="19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Confusion matrices — zero-shot → 10% → 20% fine-tuned (Decision Tree, held-out DNS traffic)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60718" y="7147963"/>
            <a:ext cx="2229743" cy="679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4"/>
              </a:lnSpc>
              <a:spcBef>
                <a:spcPct val="0"/>
              </a:spcBef>
            </a:pPr>
            <a:r>
              <a:rPr lang="en-US" b="true" sz="3996">
                <a:solidFill>
                  <a:srgbClr val="2B368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+3.95 pts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8286539"/>
            <a:ext cx="5163543" cy="74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b="true" sz="21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Recall gained from zero-shot to 20% fine-tuning (93.1% → 97.3%)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45483" y="7147963"/>
            <a:ext cx="1782763" cy="679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4"/>
              </a:lnSpc>
              <a:spcBef>
                <a:spcPct val="0"/>
              </a:spcBef>
            </a:pPr>
            <a:r>
              <a:rPr lang="en-US" b="true" sz="3996">
                <a:solidFill>
                  <a:srgbClr val="2B368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≥98.6%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46601" y="8243605"/>
            <a:ext cx="4980526" cy="112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b="true" sz="21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Precision held throughout — the recall gain isn't bought with false alarms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58423" y="5406546"/>
            <a:ext cx="4557799" cy="150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b="true" sz="219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95.5% accuracy zero-shot on a fully unseen DNS attack.</a:t>
            </a:r>
          </a:p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b="true" sz="219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b="true" sz="219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58423" y="7395680"/>
            <a:ext cx="4557799" cy="150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b="true" sz="219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Fine-tuning with just 20% of target data pushes accuracy to 98.4% without sacrificing precision.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667948" y="9611497"/>
            <a:ext cx="42886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-4733" t="0" r="-4733" b="-598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60839" y="296950"/>
            <a:ext cx="750513" cy="731750"/>
          </a:xfrm>
          <a:custGeom>
            <a:avLst/>
            <a:gdLst/>
            <a:ahLst/>
            <a:cxnLst/>
            <a:rect r="r" b="b" t="t" l="l"/>
            <a:pathLst>
              <a:path h="731750" w="750513">
                <a:moveTo>
                  <a:pt x="0" y="0"/>
                </a:moveTo>
                <a:lnTo>
                  <a:pt x="750513" y="0"/>
                </a:lnTo>
                <a:lnTo>
                  <a:pt x="750513" y="731750"/>
                </a:lnTo>
                <a:lnTo>
                  <a:pt x="0" y="731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5780" y="1773361"/>
            <a:ext cx="2217571" cy="2181852"/>
          </a:xfrm>
          <a:custGeom>
            <a:avLst/>
            <a:gdLst/>
            <a:ahLst/>
            <a:cxnLst/>
            <a:rect r="r" b="b" t="t" l="l"/>
            <a:pathLst>
              <a:path h="2181852" w="2217571">
                <a:moveTo>
                  <a:pt x="0" y="0"/>
                </a:moveTo>
                <a:lnTo>
                  <a:pt x="2217571" y="0"/>
                </a:lnTo>
                <a:lnTo>
                  <a:pt x="2217571" y="2181852"/>
                </a:lnTo>
                <a:lnTo>
                  <a:pt x="0" y="2181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615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5780" y="4483342"/>
            <a:ext cx="2235199" cy="2234046"/>
          </a:xfrm>
          <a:custGeom>
            <a:avLst/>
            <a:gdLst/>
            <a:ahLst/>
            <a:cxnLst/>
            <a:rect r="r" b="b" t="t" l="l"/>
            <a:pathLst>
              <a:path h="2234046" w="2235199">
                <a:moveTo>
                  <a:pt x="0" y="0"/>
                </a:moveTo>
                <a:lnTo>
                  <a:pt x="2235200" y="0"/>
                </a:lnTo>
                <a:lnTo>
                  <a:pt x="2235200" y="2234047"/>
                </a:lnTo>
                <a:lnTo>
                  <a:pt x="0" y="22340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434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5780" y="7245518"/>
            <a:ext cx="2235199" cy="2423129"/>
          </a:xfrm>
          <a:custGeom>
            <a:avLst/>
            <a:gdLst/>
            <a:ahLst/>
            <a:cxnLst/>
            <a:rect r="r" b="b" t="t" l="l"/>
            <a:pathLst>
              <a:path h="2423129" w="2235199">
                <a:moveTo>
                  <a:pt x="0" y="0"/>
                </a:moveTo>
                <a:lnTo>
                  <a:pt x="2235200" y="0"/>
                </a:lnTo>
                <a:lnTo>
                  <a:pt x="2235200" y="2423129"/>
                </a:lnTo>
                <a:lnTo>
                  <a:pt x="0" y="24231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542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92337" y="1997457"/>
            <a:ext cx="14002698" cy="1733660"/>
          </a:xfrm>
          <a:custGeom>
            <a:avLst/>
            <a:gdLst/>
            <a:ahLst/>
            <a:cxnLst/>
            <a:rect r="r" b="b" t="t" l="l"/>
            <a:pathLst>
              <a:path h="1733660" w="14002698">
                <a:moveTo>
                  <a:pt x="0" y="0"/>
                </a:moveTo>
                <a:lnTo>
                  <a:pt x="14002698" y="0"/>
                </a:lnTo>
                <a:lnTo>
                  <a:pt x="14002698" y="1733660"/>
                </a:lnTo>
                <a:lnTo>
                  <a:pt x="0" y="17336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509" r="0" b="-350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92337" y="4875919"/>
            <a:ext cx="14002698" cy="1733660"/>
          </a:xfrm>
          <a:custGeom>
            <a:avLst/>
            <a:gdLst/>
            <a:ahLst/>
            <a:cxnLst/>
            <a:rect r="r" b="b" t="t" l="l"/>
            <a:pathLst>
              <a:path h="1733660" w="14002698">
                <a:moveTo>
                  <a:pt x="0" y="0"/>
                </a:moveTo>
                <a:lnTo>
                  <a:pt x="14002698" y="0"/>
                </a:lnTo>
                <a:lnTo>
                  <a:pt x="14002698" y="1733660"/>
                </a:lnTo>
                <a:lnTo>
                  <a:pt x="0" y="17336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509" r="0" b="-350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692337" y="7590252"/>
            <a:ext cx="14002698" cy="1733660"/>
          </a:xfrm>
          <a:custGeom>
            <a:avLst/>
            <a:gdLst/>
            <a:ahLst/>
            <a:cxnLst/>
            <a:rect r="r" b="b" t="t" l="l"/>
            <a:pathLst>
              <a:path h="1733660" w="14002698">
                <a:moveTo>
                  <a:pt x="0" y="0"/>
                </a:moveTo>
                <a:lnTo>
                  <a:pt x="14002698" y="0"/>
                </a:lnTo>
                <a:lnTo>
                  <a:pt x="14002698" y="1733661"/>
                </a:lnTo>
                <a:lnTo>
                  <a:pt x="0" y="17336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509" r="0" b="-350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910327" y="273975"/>
            <a:ext cx="750513" cy="731750"/>
          </a:xfrm>
          <a:custGeom>
            <a:avLst/>
            <a:gdLst/>
            <a:ahLst/>
            <a:cxnLst/>
            <a:rect r="r" b="b" t="t" l="l"/>
            <a:pathLst>
              <a:path h="731750" w="750513">
                <a:moveTo>
                  <a:pt x="0" y="0"/>
                </a:moveTo>
                <a:lnTo>
                  <a:pt x="750512" y="0"/>
                </a:lnTo>
                <a:lnTo>
                  <a:pt x="750512" y="731750"/>
                </a:lnTo>
                <a:lnTo>
                  <a:pt x="0" y="731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-1354834" y="234200"/>
            <a:ext cx="8748379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7A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 &amp;</a:t>
            </a:r>
            <a:r>
              <a:rPr lang="en-US" b="true" sz="4500">
                <a:solidFill>
                  <a:srgbClr val="7A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Analysis</a:t>
            </a:r>
          </a:p>
          <a:p>
            <a:pPr algn="ctr">
              <a:lnSpc>
                <a:spcPts val="63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7695035" y="9611497"/>
            <a:ext cx="37469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93545" y="243725"/>
            <a:ext cx="1048883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Addressing the Research Questions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75070" y="2282579"/>
            <a:ext cx="13084230" cy="112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b="true" sz="21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DT, RF, and XGBoost perform comparably (~0.74 accuracy); DT offers the best speed/FPR trade-off. LightGBM needs tuning to compete — its leaf-wise growth struggles to find valid splits for minority classes in a high-dimensional, imbalanced space.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51571" y="5161041"/>
            <a:ext cx="13084230" cy="112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b="true" sz="21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 81% feature reduction preserves accuracy while cutting training time by over 60%, because DDoS flow features are highly redundant — the retained features already captured what the models were actually using. Confirms and extends Sakr et al.'s [6] finding.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75070" y="7819254"/>
            <a:ext cx="13084230" cy="112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4"/>
              </a:lnSpc>
              <a:spcBef>
                <a:spcPct val="0"/>
              </a:spcBef>
            </a:pPr>
            <a:r>
              <a:rPr lang="en-US" b="true" sz="219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classifier generalises well zero-shot (95.5%) and improves further with fine-tuning — directly countering Cantone et al.'s [7] near-random collapse, and meaning defenders could realistically respond to a new attack within hours, not after collecting a whole new dataset.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5780" y="2449901"/>
            <a:ext cx="2217571" cy="75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b="true" sz="449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RQ1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5780" y="5185979"/>
            <a:ext cx="2217571" cy="75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b="true" sz="449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RQ2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1038" y="7795981"/>
            <a:ext cx="2217571" cy="75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4"/>
              </a:lnSpc>
              <a:spcBef>
                <a:spcPct val="0"/>
              </a:spcBef>
            </a:pPr>
            <a:r>
              <a:rPr lang="en-US" b="true" sz="449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RQ3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-4733" t="0" r="-4733" b="-598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69811" y="184150"/>
            <a:ext cx="874837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7A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Limitations &amp; Future Work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003551"/>
            <a:ext cx="7824912" cy="6496847"/>
            <a:chOff x="0" y="0"/>
            <a:chExt cx="10433216" cy="8662462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433216" cy="8662462"/>
              <a:chOff x="0" y="0"/>
              <a:chExt cx="2060882" cy="171110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60882" cy="1711104"/>
              </a:xfrm>
              <a:custGeom>
                <a:avLst/>
                <a:gdLst/>
                <a:ahLst/>
                <a:cxnLst/>
                <a:rect r="r" b="b" t="t" l="l"/>
                <a:pathLst>
                  <a:path h="1711104" w="2060882">
                    <a:moveTo>
                      <a:pt x="16820" y="0"/>
                    </a:moveTo>
                    <a:lnTo>
                      <a:pt x="2044062" y="0"/>
                    </a:lnTo>
                    <a:cubicBezTo>
                      <a:pt x="2048523" y="0"/>
                      <a:pt x="2052801" y="1772"/>
                      <a:pt x="2055956" y="4926"/>
                    </a:cubicBezTo>
                    <a:cubicBezTo>
                      <a:pt x="2059110" y="8081"/>
                      <a:pt x="2060882" y="12359"/>
                      <a:pt x="2060882" y="16820"/>
                    </a:cubicBezTo>
                    <a:lnTo>
                      <a:pt x="2060882" y="1694284"/>
                    </a:lnTo>
                    <a:cubicBezTo>
                      <a:pt x="2060882" y="1703573"/>
                      <a:pt x="2053352" y="1711104"/>
                      <a:pt x="2044062" y="1711104"/>
                    </a:cubicBezTo>
                    <a:lnTo>
                      <a:pt x="16820" y="1711104"/>
                    </a:lnTo>
                    <a:cubicBezTo>
                      <a:pt x="12359" y="1711104"/>
                      <a:pt x="8081" y="1709332"/>
                      <a:pt x="4926" y="1706177"/>
                    </a:cubicBezTo>
                    <a:cubicBezTo>
                      <a:pt x="1772" y="1703023"/>
                      <a:pt x="0" y="1698745"/>
                      <a:pt x="0" y="1694284"/>
                    </a:cubicBezTo>
                    <a:lnTo>
                      <a:pt x="0" y="16820"/>
                    </a:lnTo>
                    <a:cubicBezTo>
                      <a:pt x="0" y="12359"/>
                      <a:pt x="1772" y="8081"/>
                      <a:pt x="4926" y="4926"/>
                    </a:cubicBezTo>
                    <a:cubicBezTo>
                      <a:pt x="8081" y="1772"/>
                      <a:pt x="12359" y="0"/>
                      <a:pt x="16820" y="0"/>
                    </a:cubicBezTo>
                    <a:close/>
                  </a:path>
                </a:pathLst>
              </a:custGeom>
              <a:solidFill>
                <a:srgbClr val="DBD9CD"/>
              </a:solidFill>
              <a:ln w="38100" cap="sq">
                <a:solidFill>
                  <a:srgbClr val="7A0000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060882" cy="17492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18890"/>
              <a:ext cx="10433216" cy="66950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5227" indent="-257614" lvl="1">
                <a:lnSpc>
                  <a:spcPts val="3340"/>
                </a:lnSpc>
                <a:buFont typeface="Arial"/>
                <a:buChar char="•"/>
              </a:pPr>
              <a:r>
                <a:rPr lang="en-US" b="true" sz="2386">
                  <a:solidFill>
                    <a:srgbClr val="020C4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LightGBM un</a:t>
              </a:r>
              <a:r>
                <a:rPr lang="en-US" b="true" sz="2386">
                  <a:solidFill>
                    <a:srgbClr val="020C4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derperformance</a:t>
              </a:r>
            </a:p>
            <a:p>
              <a:pPr algn="l">
                <a:lnSpc>
                  <a:spcPts val="3340"/>
                </a:lnSpc>
              </a:pPr>
            </a:p>
            <a:p>
              <a:pPr algn="l">
                <a:lnSpc>
                  <a:spcPts val="3340"/>
                </a:lnSpc>
              </a:pPr>
            </a:p>
            <a:p>
              <a:pPr algn="l" marL="515227" indent="-257614" lvl="1">
                <a:lnSpc>
                  <a:spcPts val="3340"/>
                </a:lnSpc>
                <a:buFont typeface="Arial"/>
                <a:buChar char="•"/>
              </a:pPr>
              <a:r>
                <a:rPr lang="en-US" b="true" sz="2386">
                  <a:solidFill>
                    <a:srgbClr val="020C4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Binary framing for RQ3</a:t>
              </a:r>
            </a:p>
            <a:p>
              <a:pPr algn="l">
                <a:lnSpc>
                  <a:spcPts val="3340"/>
                </a:lnSpc>
              </a:pPr>
            </a:p>
            <a:p>
              <a:pPr algn="l">
                <a:lnSpc>
                  <a:spcPts val="3340"/>
                </a:lnSpc>
              </a:pPr>
            </a:p>
            <a:p>
              <a:pPr algn="l" marL="515227" indent="-257614" lvl="1">
                <a:lnSpc>
                  <a:spcPts val="3340"/>
                </a:lnSpc>
                <a:buFont typeface="Arial"/>
                <a:buChar char="•"/>
              </a:pPr>
              <a:r>
                <a:rPr lang="en-US" b="true" sz="2386">
                  <a:solidFill>
                    <a:srgbClr val="020C4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Single-model fine-tuning</a:t>
              </a:r>
            </a:p>
            <a:p>
              <a:pPr algn="l">
                <a:lnSpc>
                  <a:spcPts val="3340"/>
                </a:lnSpc>
              </a:pPr>
            </a:p>
            <a:p>
              <a:pPr algn="l">
                <a:lnSpc>
                  <a:spcPts val="3340"/>
                </a:lnSpc>
              </a:pPr>
            </a:p>
            <a:p>
              <a:pPr algn="l" marL="515227" indent="-257614" lvl="1">
                <a:lnSpc>
                  <a:spcPts val="3340"/>
                </a:lnSpc>
                <a:buFont typeface="Arial"/>
                <a:buChar char="•"/>
              </a:pPr>
              <a:r>
                <a:rPr lang="en-US" b="true" sz="2386">
                  <a:solidFill>
                    <a:srgbClr val="020C4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Dataset scale</a:t>
              </a:r>
            </a:p>
            <a:p>
              <a:pPr algn="l">
                <a:lnSpc>
                  <a:spcPts val="3340"/>
                </a:lnSpc>
              </a:pPr>
            </a:p>
            <a:p>
              <a:pPr algn="l">
                <a:lnSpc>
                  <a:spcPts val="3340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095743" y="657331"/>
              <a:ext cx="9144989" cy="990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8"/>
                </a:lnSpc>
              </a:pPr>
              <a:r>
                <a:rPr lang="en-US" sz="2148">
                  <a:solidFill>
                    <a:srgbClr val="020C45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18.0% → 57.4% after feature selection; further tuning needed (class weight, num_leaves)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128114" y="4084342"/>
              <a:ext cx="9080247" cy="990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8"/>
                </a:lnSpc>
              </a:pPr>
              <a:r>
                <a:rPr lang="en-US" sz="2148">
                  <a:solidFill>
                    <a:srgbClr val="020C45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Only Decision Tree fine-tuned so far, to keep the experiment tractable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095743" y="2270406"/>
              <a:ext cx="9080247" cy="990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8"/>
                </a:lnSpc>
              </a:pPr>
              <a:r>
                <a:rPr lang="en-US" sz="2148">
                  <a:solidFill>
                    <a:srgbClr val="020C45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Tests “is this malicious?”, not full DNS-attack sub type identification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160486" y="5823047"/>
              <a:ext cx="9080247" cy="990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8"/>
                </a:lnSpc>
              </a:pPr>
              <a:r>
                <a:rPr lang="en-US" sz="2148">
                  <a:solidFill>
                    <a:srgbClr val="020C45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Some attack types (NTP, SNMP, SSDP…) lacked complete train/test files and were excluded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34909" y="3003551"/>
            <a:ext cx="7824912" cy="6496847"/>
            <a:chOff x="0" y="0"/>
            <a:chExt cx="2060882" cy="17111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60882" cy="1711104"/>
            </a:xfrm>
            <a:custGeom>
              <a:avLst/>
              <a:gdLst/>
              <a:ahLst/>
              <a:cxnLst/>
              <a:rect r="r" b="b" t="t" l="l"/>
              <a:pathLst>
                <a:path h="1711104" w="2060882">
                  <a:moveTo>
                    <a:pt x="16820" y="0"/>
                  </a:moveTo>
                  <a:lnTo>
                    <a:pt x="2044062" y="0"/>
                  </a:lnTo>
                  <a:cubicBezTo>
                    <a:pt x="2048523" y="0"/>
                    <a:pt x="2052801" y="1772"/>
                    <a:pt x="2055956" y="4926"/>
                  </a:cubicBezTo>
                  <a:cubicBezTo>
                    <a:pt x="2059110" y="8081"/>
                    <a:pt x="2060882" y="12359"/>
                    <a:pt x="2060882" y="16820"/>
                  </a:cubicBezTo>
                  <a:lnTo>
                    <a:pt x="2060882" y="1694284"/>
                  </a:lnTo>
                  <a:cubicBezTo>
                    <a:pt x="2060882" y="1703573"/>
                    <a:pt x="2053352" y="1711104"/>
                    <a:pt x="2044062" y="1711104"/>
                  </a:cubicBezTo>
                  <a:lnTo>
                    <a:pt x="16820" y="1711104"/>
                  </a:lnTo>
                  <a:cubicBezTo>
                    <a:pt x="12359" y="1711104"/>
                    <a:pt x="8081" y="1709332"/>
                    <a:pt x="4926" y="1706177"/>
                  </a:cubicBezTo>
                  <a:cubicBezTo>
                    <a:pt x="1772" y="1703023"/>
                    <a:pt x="0" y="1698745"/>
                    <a:pt x="0" y="1694284"/>
                  </a:cubicBezTo>
                  <a:lnTo>
                    <a:pt x="0" y="16820"/>
                  </a:lnTo>
                  <a:cubicBezTo>
                    <a:pt x="0" y="12359"/>
                    <a:pt x="1772" y="8081"/>
                    <a:pt x="4926" y="4926"/>
                  </a:cubicBezTo>
                  <a:cubicBezTo>
                    <a:pt x="8081" y="1772"/>
                    <a:pt x="12359" y="0"/>
                    <a:pt x="16820" y="0"/>
                  </a:cubicBezTo>
                  <a:close/>
                </a:path>
              </a:pathLst>
            </a:custGeom>
            <a:solidFill>
              <a:srgbClr val="DBD9CD"/>
            </a:solidFill>
            <a:ln w="38100" cap="sq">
              <a:solidFill>
                <a:srgbClr val="7A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60882" cy="1749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834909" y="3080812"/>
            <a:ext cx="7824912" cy="5453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227" indent="-257614" lvl="1">
              <a:lnSpc>
                <a:spcPts val="3340"/>
              </a:lnSpc>
              <a:buFont typeface="Arial"/>
              <a:buChar char="•"/>
            </a:pPr>
            <a:r>
              <a:rPr lang="en-US" b="true" sz="2386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Tune LightGBM</a:t>
            </a:r>
          </a:p>
          <a:p>
            <a:pPr algn="l">
              <a:lnSpc>
                <a:spcPts val="3340"/>
              </a:lnSpc>
            </a:pPr>
          </a:p>
          <a:p>
            <a:pPr algn="l">
              <a:lnSpc>
                <a:spcPts val="3340"/>
              </a:lnSpc>
            </a:pPr>
          </a:p>
          <a:p>
            <a:pPr algn="l" marL="515227" indent="-257614" lvl="1">
              <a:lnSpc>
                <a:spcPts val="3340"/>
              </a:lnSpc>
              <a:buFont typeface="Arial"/>
              <a:buChar char="•"/>
            </a:pPr>
            <a:r>
              <a:rPr lang="en-US" b="true" sz="2386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Multi-Class Generalisation</a:t>
            </a:r>
          </a:p>
          <a:p>
            <a:pPr algn="l">
              <a:lnSpc>
                <a:spcPts val="3340"/>
              </a:lnSpc>
            </a:pPr>
          </a:p>
          <a:p>
            <a:pPr algn="l">
              <a:lnSpc>
                <a:spcPts val="3340"/>
              </a:lnSpc>
            </a:pPr>
          </a:p>
          <a:p>
            <a:pPr algn="l" marL="515227" indent="-257614" lvl="1">
              <a:lnSpc>
                <a:spcPts val="3340"/>
              </a:lnSpc>
              <a:buFont typeface="Arial"/>
              <a:buChar char="•"/>
            </a:pPr>
            <a:r>
              <a:rPr lang="en-US" b="true" sz="2386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Extend Fine-Tuning</a:t>
            </a:r>
          </a:p>
          <a:p>
            <a:pPr algn="l">
              <a:lnSpc>
                <a:spcPts val="3340"/>
              </a:lnSpc>
            </a:pPr>
          </a:p>
          <a:p>
            <a:pPr algn="l">
              <a:lnSpc>
                <a:spcPts val="3340"/>
              </a:lnSpc>
            </a:pPr>
          </a:p>
          <a:p>
            <a:pPr algn="l" marL="515227" indent="-257614" lvl="1">
              <a:lnSpc>
                <a:spcPts val="3340"/>
              </a:lnSpc>
              <a:buFont typeface="Arial"/>
              <a:buChar char="•"/>
            </a:pPr>
            <a:r>
              <a:rPr lang="en-US" b="true" sz="2386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Expand the Dataset</a:t>
            </a:r>
          </a:p>
          <a:p>
            <a:pPr algn="l">
              <a:lnSpc>
                <a:spcPts val="3340"/>
              </a:lnSpc>
            </a:pPr>
          </a:p>
          <a:p>
            <a:pPr algn="l">
              <a:lnSpc>
                <a:spcPts val="3340"/>
              </a:lnSpc>
            </a:pPr>
          </a:p>
          <a:p>
            <a:pPr algn="l">
              <a:lnSpc>
                <a:spcPts val="334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705273" y="6002034"/>
            <a:ext cx="6602584" cy="75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sz="2148">
                <a:solidFill>
                  <a:srgbClr val="020C45"/>
                </a:solidFill>
                <a:latin typeface="Canva Sans"/>
                <a:ea typeface="Canva Sans"/>
                <a:cs typeface="Canva Sans"/>
                <a:sym typeface="Canva Sans"/>
              </a:rPr>
              <a:t>Repe</a:t>
            </a:r>
            <a:r>
              <a:rPr lang="en-US" sz="2148">
                <a:solidFill>
                  <a:srgbClr val="020C45"/>
                </a:solidFill>
                <a:latin typeface="Canva Sans"/>
                <a:ea typeface="Canva Sans"/>
                <a:cs typeface="Canva Sans"/>
                <a:sym typeface="Canva Sans"/>
              </a:rPr>
              <a:t>at the RQ3 fine-tuning experiment for RF, XGBoost, and LightGBM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56716" y="3484643"/>
            <a:ext cx="6858742" cy="75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sz="2148">
                <a:solidFill>
                  <a:srgbClr val="020C45"/>
                </a:solidFill>
                <a:latin typeface="Canva Sans"/>
                <a:ea typeface="Canva Sans"/>
                <a:cs typeface="Canva Sans"/>
                <a:sym typeface="Canva Sans"/>
              </a:rPr>
              <a:t>class_weight, min_child_samples, num_leaves to close the accuracy gap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05273" y="7261903"/>
            <a:ext cx="6810185" cy="75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sz="2148">
                <a:solidFill>
                  <a:srgbClr val="020C45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148">
                <a:solidFill>
                  <a:srgbClr val="020C45"/>
                </a:solidFill>
                <a:latin typeface="Canva Sans"/>
                <a:ea typeface="Canva Sans"/>
                <a:cs typeface="Canva Sans"/>
                <a:sym typeface="Canva Sans"/>
              </a:rPr>
              <a:t>ncorporate NTP, SNMP, SSDP and other attack types as data becomes available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05273" y="4742166"/>
            <a:ext cx="6810185" cy="75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sz="2148">
                <a:solidFill>
                  <a:srgbClr val="020C45"/>
                </a:solidFill>
                <a:latin typeface="Canva Sans"/>
                <a:ea typeface="Canva Sans"/>
                <a:cs typeface="Canva Sans"/>
                <a:sym typeface="Canva Sans"/>
              </a:rPr>
              <a:t>Test full attack-sub-type identification, not just binary Benign/Attack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62265" y="1988726"/>
            <a:ext cx="431184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Where</a:t>
            </a:r>
            <a:r>
              <a:rPr lang="en-US" b="true" sz="3200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This Goes Next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05182" y="1988726"/>
            <a:ext cx="452925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Limits</a:t>
            </a:r>
            <a:r>
              <a:rPr lang="en-US" b="true" sz="3200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This Study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689617" y="9611497"/>
            <a:ext cx="38552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-4733" t="0" r="-4733" b="-598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69811" y="184150"/>
            <a:ext cx="874837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7A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83664" y="9611497"/>
            <a:ext cx="39743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72644" y="1677733"/>
            <a:ext cx="14758746" cy="505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5724"/>
              </a:lnSpc>
              <a:buFont typeface="Arial"/>
              <a:buChar char="•"/>
            </a:pPr>
            <a:r>
              <a:rPr lang="en-US" b="true" sz="2499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Decision Tree, Random Forest, and XGBoost achieved similar detection accuracy of around 74%, while LightGBM required further tuning to improve its performance.</a:t>
            </a:r>
          </a:p>
          <a:p>
            <a:pPr algn="l" marL="539749" indent="-269875" lvl="1">
              <a:lnSpc>
                <a:spcPts val="5724"/>
              </a:lnSpc>
              <a:buFont typeface="Arial"/>
              <a:buChar char="•"/>
            </a:pPr>
            <a:r>
              <a:rPr lang="en-US" b="true" sz="2499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three-stage feature selection pipeline reduced the number of features from 77 to 15—an 81% reduction—while maintaining accuracy and reducing training time by up to 64%.</a:t>
            </a:r>
          </a:p>
          <a:p>
            <a:pPr algn="l" marL="539749" indent="-269875" lvl="1">
              <a:lnSpc>
                <a:spcPts val="4399"/>
              </a:lnSpc>
              <a:buFont typeface="Arial"/>
              <a:buChar char="•"/>
            </a:pPr>
            <a:r>
              <a:rPr lang="en-US" b="true" sz="2499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Finally, t</a:t>
            </a:r>
            <a:r>
              <a:rPr lang="en-US" b="true" sz="2499">
                <a:solidFill>
                  <a:srgbClr val="020C4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 best-performing model successfully detected a previously unseen DNS attack with 95.5% zero-shot accuracy, which improved to 98.4% after fine-tuning using only 20% of the new attack data.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-4733" t="0" r="-4733" b="-5989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6476307" y="371041"/>
            <a:ext cx="2271154" cy="1627995"/>
          </a:xfrm>
          <a:prstGeom prst="line">
            <a:avLst/>
          </a:prstGeom>
          <a:ln cap="flat" w="1428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309335" y="116395"/>
            <a:ext cx="14117791" cy="10054211"/>
          </a:xfrm>
          <a:custGeom>
            <a:avLst/>
            <a:gdLst/>
            <a:ahLst/>
            <a:cxnLst/>
            <a:rect r="r" b="b" t="t" l="l"/>
            <a:pathLst>
              <a:path h="10054211" w="14117791">
                <a:moveTo>
                  <a:pt x="0" y="0"/>
                </a:moveTo>
                <a:lnTo>
                  <a:pt x="14117791" y="0"/>
                </a:lnTo>
                <a:lnTo>
                  <a:pt x="14117791" y="10054210"/>
                </a:lnTo>
                <a:lnTo>
                  <a:pt x="0" y="10054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702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98932" y="1542306"/>
            <a:ext cx="2008697" cy="120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2"/>
              </a:lnSpc>
              <a:spcBef>
                <a:spcPct val="0"/>
              </a:spcBef>
            </a:pPr>
            <a:r>
              <a:rPr lang="en-US" sz="7015">
                <a:solidFill>
                  <a:srgbClr val="00B7EF"/>
                </a:solidFill>
                <a:latin typeface="Lilita One"/>
                <a:ea typeface="Lilita One"/>
                <a:cs typeface="Lilita One"/>
                <a:sym typeface="Lilita One"/>
              </a:rPr>
              <a:t>Our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4818416" y="8818726"/>
            <a:ext cx="682201" cy="879148"/>
          </a:xfrm>
          <a:prstGeom prst="line">
            <a:avLst/>
          </a:prstGeom>
          <a:ln cap="flat" w="1714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7798932" y="445007"/>
            <a:ext cx="1897059" cy="1240174"/>
          </a:xfrm>
          <a:prstGeom prst="line">
            <a:avLst/>
          </a:prstGeom>
          <a:ln cap="flat" w="1714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499927" y="8928584"/>
            <a:ext cx="1105399" cy="1242021"/>
          </a:xfrm>
          <a:custGeom>
            <a:avLst/>
            <a:gdLst/>
            <a:ahLst/>
            <a:cxnLst/>
            <a:rect r="r" b="b" t="t" l="l"/>
            <a:pathLst>
              <a:path h="1242021" w="1105399">
                <a:moveTo>
                  <a:pt x="0" y="0"/>
                </a:moveTo>
                <a:lnTo>
                  <a:pt x="1105399" y="0"/>
                </a:lnTo>
                <a:lnTo>
                  <a:pt x="1105399" y="1242021"/>
                </a:lnTo>
                <a:lnTo>
                  <a:pt x="0" y="12420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54321" y="7377318"/>
            <a:ext cx="2008697" cy="120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22"/>
              </a:lnSpc>
              <a:spcBef>
                <a:spcPct val="0"/>
              </a:spcBef>
            </a:pPr>
            <a:r>
              <a:rPr lang="en-US" sz="7015">
                <a:solidFill>
                  <a:srgbClr val="32B11D"/>
                </a:solidFill>
                <a:latin typeface="Lilita One"/>
                <a:ea typeface="Lilita One"/>
                <a:cs typeface="Lilita One"/>
                <a:sym typeface="Lilita One"/>
              </a:rPr>
              <a:t>We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78128" y="9611497"/>
            <a:ext cx="40850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l="-4733" t="0" r="-4733" b="-598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69811" y="184150"/>
            <a:ext cx="874837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7A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28740" y="1239485"/>
            <a:ext cx="17631729" cy="8429162"/>
            <a:chOff x="0" y="0"/>
            <a:chExt cx="4643747" cy="22200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43748" cy="2220026"/>
            </a:xfrm>
            <a:custGeom>
              <a:avLst/>
              <a:gdLst/>
              <a:ahLst/>
              <a:cxnLst/>
              <a:rect r="r" b="b" t="t" l="l"/>
              <a:pathLst>
                <a:path h="2220026" w="4643748">
                  <a:moveTo>
                    <a:pt x="7465" y="0"/>
                  </a:moveTo>
                  <a:lnTo>
                    <a:pt x="4636283" y="0"/>
                  </a:lnTo>
                  <a:cubicBezTo>
                    <a:pt x="4640406" y="0"/>
                    <a:pt x="4643748" y="3342"/>
                    <a:pt x="4643748" y="7465"/>
                  </a:cubicBezTo>
                  <a:lnTo>
                    <a:pt x="4643748" y="2212562"/>
                  </a:lnTo>
                  <a:cubicBezTo>
                    <a:pt x="4643748" y="2216684"/>
                    <a:pt x="4640406" y="2220026"/>
                    <a:pt x="4636283" y="2220026"/>
                  </a:cubicBezTo>
                  <a:lnTo>
                    <a:pt x="7465" y="2220026"/>
                  </a:lnTo>
                  <a:cubicBezTo>
                    <a:pt x="3342" y="2220026"/>
                    <a:pt x="0" y="2216684"/>
                    <a:pt x="0" y="2212562"/>
                  </a:cubicBezTo>
                  <a:lnTo>
                    <a:pt x="0" y="7465"/>
                  </a:lnTo>
                  <a:cubicBezTo>
                    <a:pt x="0" y="3342"/>
                    <a:pt x="3342" y="0"/>
                    <a:pt x="7465" y="0"/>
                  </a:cubicBezTo>
                  <a:close/>
                </a:path>
              </a:pathLst>
            </a:custGeom>
            <a:solidFill>
              <a:srgbClr val="E5E9EE"/>
            </a:solidFill>
            <a:ln w="38100" cap="sq">
              <a:solidFill>
                <a:srgbClr val="7A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643747" cy="225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681759" y="9611497"/>
            <a:ext cx="40124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1726" y="1506650"/>
            <a:ext cx="17165807" cy="75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[1] K. Saluja et al., “Exploring Robust DDoS Detection: A Machine Learning Analysis with the CICDDoS2019 Dataset,” Proc. 2024 IEEE 5th India Council Int’l Subsections Conf. (INDISCON), 2024, pp. 1–6.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7449" y="2504419"/>
            <a:ext cx="17253020" cy="75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[2] A. M. Al-Eryani, E. Hossny, and F. A. Omara, “Efficient Machine Learning Algorithms for DDoS Attack Detection,” Proc. 2024 6th Int’l Conf. on Computing and Informatics (ICCI), 2024, pp. 174–181.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7449" y="3497588"/>
            <a:ext cx="16909433" cy="75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[6] N. H. Sakr, A. Hikal, et al., “A Hybrid Approach for Efficient Feature Selection in Anomaly Intrusion Detection for IoT Networks,” The J. of Supercomputing, vol. 80, pp. 26942–26984, 2024.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7449" y="4490757"/>
            <a:ext cx="16102413" cy="75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[7] M. Cantone, C. Marrocco, and A. Bria, “Machine Learning in Network Intrusion Detection: A Cross-Dataset Generalization Study,” IEEE Access, vol. 12, pp. 144489–144510, 2024.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7449" y="5483925"/>
            <a:ext cx="17480551" cy="75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[10] T. F. Deressu, A. M. Beyene, and A. Y. Gemechu, “A Survey of Application Layer Distributed Denial of Service Detection: Approaches, Models, and Datasets,” Artificial Intelligence Review, Springer, vol. 59, no. 6, 2026.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7449" y="6477094"/>
            <a:ext cx="17311261" cy="75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  <a:spcBef>
                <a:spcPct val="0"/>
              </a:spcBef>
            </a:pPr>
            <a:r>
              <a:rPr lang="en-US" sz="214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[12] B. Bouyeddou et al., “A Systematic Literature Review on the Accuracy of Machine Learning-Based DDoS Detection Techniques in Software Defined Networking,” Information Retrieval Journal, Springer, 2026.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7449" y="7695349"/>
            <a:ext cx="17832936" cy="374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DAHQmLRI2fY</dc:identifier>
  <dcterms:modified xsi:type="dcterms:W3CDTF">2011-08-01T06:04:30Z</dcterms:modified>
  <cp:revision>1</cp:revision>
  <dc:title>Cyber Security Presentation</dc:title>
</cp:coreProperties>
</file>